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2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theme/theme3.xml" ContentType="application/vnd.openxmlformats-officedocument.theme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724" r:id="rId5"/>
    <p:sldMasterId id="2147483776" r:id="rId6"/>
    <p:sldMasterId id="2147483825" r:id="rId7"/>
  </p:sldMasterIdLst>
  <p:notesMasterIdLst>
    <p:notesMasterId r:id="rId23"/>
  </p:notesMasterIdLst>
  <p:handoutMasterIdLst>
    <p:handoutMasterId r:id="rId24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6" r:id="rId16"/>
    <p:sldId id="267" r:id="rId17"/>
    <p:sldId id="268" r:id="rId18"/>
    <p:sldId id="271" r:id="rId19"/>
    <p:sldId id="272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6508217-2F58-DAA4-0EFE-583796201B2F}" name="Susann Keohane" initials="SK" userId="S::skeohane@us.ibm.com::d37cd7c0-b639-47ed-b05a-25750c5fc96f" providerId="AD"/>
  <p188:author id="{B42A3C1C-01AF-A02E-D17A-E4868C7AF0F4}" name="STEPHEN MORTEFOLIO" initials="SM" userId="S::smortefo@us.ibm.com::faa369b1-cc83-4471-ad18-00bb3787ef19" providerId="AD"/>
  <p188:author id="{0DDAC11E-1712-67CF-0954-5CAEA3AB68F5}" name="Maria Morel" initials="MM" userId="S::mf.morel@ibm.com::58000fc3-7b0e-4794-8b76-98c036da94b0" providerId="AD"/>
  <p188:author id="{6380274A-2B3F-9B8E-9787-E3CB7AFA3644}" name="Matt Rodkey" initials="MR" userId="S::mrodkey@us.ibm.com::dede710f-83f6-49cc-ab72-39a34cf84c1c" providerId="AD"/>
  <p188:author id="{A02FAB5E-CABF-8D6F-3FBF-2CE955C29FFE}" name="Andy Bryant" initials="AB" userId="S::andy.bryant@ibm.com::0f77ff80-c4b7-43ab-9bb3-061b236bd6cc" providerId="AD"/>
  <p188:author id="{855A9F71-75DE-F97F-60A9-72ADC4B1458C}" name="Ann Leach" initials="AL" userId="S::ann.leach@ibm.com::de5d95f6-d00d-4009-a8c3-c632332f7681" providerId="AD"/>
  <p188:author id="{9BA5597A-CDF6-A5AA-03E7-C379E162C1F7}" name="Adam McDaniel" initials="AM" userId="S::adammcdaniel@ibm.com::bcce236a-82d6-4250-9d32-7198b4f7cfaf" providerId="AD"/>
  <p188:author id="{45082084-0870-04BC-4F26-13C81F0CF983}" name="Kelsey LaFreniere" initials="KL" userId="S::Kelsey.LaFreniere@ibm.com::bb6531d0-f835-4a5d-a221-a569211d997a" providerId="AD"/>
  <p188:author id="{0195F38C-F032-49F4-7C25-407A7E9812CB}" name="JONATHAN YOUNG" initials="JY" userId="S::jsyoung@us.ibm.com::4fe9c8ab-fd8e-4fdb-9dd5-255788126a64" providerId="AD"/>
  <p188:author id="{6E5F8B9E-A86F-CE53-C6D4-7DE9136E1669}" name="Sergio Porro" initials="SP" userId="S::SERGIO.PORRO@ibm.com::db55df1b-1382-4f06-884a-759450360441" providerId="AD"/>
  <p188:author id="{CAA2A09E-5E92-C0F9-9759-EFC589BA3330}" name="Markus Eisele" initials="ME" userId="S::markus.eisele@ibm.com::97a528d8-f697-4faa-9a8f-22693c2903f2" providerId="AD"/>
  <p188:author id="{26609FD3-85F0-BA59-D8FE-880B59210C1F}" name="Courtney Balabanian" initials="CB" userId="S::courtney.balabanian@ibm.com::c25d083f-7231-4cff-9ad9-bcef2b483592" providerId="AD"/>
  <p188:author id="{3D511AD4-9BE6-DDA3-151A-34EDE10A7631}" name="Cindy Feng" initials="CF" userId="S::cindy.feng@ibm.com::c28912e0-aba4-453b-a0ef-cdee9807afc4" providerId="AD"/>
  <p188:author id="{53A0B2D7-7C6A-9A3C-6D84-59217B36B673}" name="Emily Hagopian" initials="EH" userId="S::emily.hagopian@ibm.com::bf31ab1d-410d-40f1-88c4-03a543c0b8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7516"/>
    <a:srgbClr val="AF8D19"/>
    <a:srgbClr val="B9941D"/>
    <a:srgbClr val="F2F4F9"/>
    <a:srgbClr val="E5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7AF5F-9B48-774E-D8A4-8B8E44E1C5C6}" v="245" dt="2026-04-25T19:46:25.885"/>
    <p1510:client id="{87F6F6B5-F951-54C0-1E8C-2B5273BE3E9D}" v="7" dt="2026-04-24T05:00:25.751"/>
    <p1510:client id="{C626F078-295F-CA43-9F2F-7326AC576D80}" v="1740" dt="2026-04-24T17:56:22.323"/>
    <p1510:client id="{E475E996-931C-FCF4-AE1A-D1C629C5D7BA}" v="18" dt="2026-04-24T03:47:53.9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0"/>
  </p:normalViewPr>
  <p:slideViewPr>
    <p:cSldViewPr snapToGrid="0">
      <p:cViewPr varScale="1">
        <p:scale>
          <a:sx n="117" d="100"/>
          <a:sy n="117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DD5A749-CEFB-DDB5-7B41-9F1BE6D399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8B4456-68D6-8269-3B7A-EF0E95CEFD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CA362-EB1B-E84D-832C-8CC2EDD7A56B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53E23-E196-B332-A110-C98BD1F082C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E75D7-A296-F68A-5927-51525659AE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C1625-0F7C-8340-B809-3D6B20623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92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B04374-6A4C-5A4C-B0DC-094F3FBC0C58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9CE02-7EB2-A148-AC15-6DF93CD7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975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6083300"/>
            <a:ext cx="2470906" cy="53714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83300"/>
            <a:ext cx="2473384" cy="53850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3654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769196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97588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6083300"/>
            <a:ext cx="2470906" cy="53714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83300"/>
            <a:ext cx="2473384" cy="53850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3654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5887956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5178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066542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63" y="6239574"/>
            <a:ext cx="5518504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5178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884519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5750"/>
            <a:ext cx="5520847" cy="628933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006" y="6288882"/>
            <a:ext cx="769062" cy="286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5178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674486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756000"/>
            <a:ext cx="5049180" cy="4573588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006" y="6288882"/>
            <a:ext cx="769062" cy="2862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0847" cy="629012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2328339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2470717" cy="2105025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506" y="287338"/>
            <a:ext cx="2476178" cy="5808659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7337"/>
            <a:ext cx="2470622" cy="5810250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63913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7527" cy="1331913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082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4800"/>
            <a:ext cx="8569797" cy="4416425"/>
          </a:xfrm>
        </p:spPr>
        <p:txBody>
          <a:bodyPr/>
          <a:lstStyle>
            <a:lvl1pPr>
              <a:defRPr sz="8398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817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4953942" cy="2104835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9168" y="192024"/>
            <a:ext cx="5520318" cy="438924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9356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1416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7963" y="154800"/>
            <a:ext cx="7323771" cy="5178133"/>
          </a:xfrm>
        </p:spPr>
        <p:txBody>
          <a:bodyPr/>
          <a:lstStyle>
            <a:lvl1pPr>
              <a:lnSpc>
                <a:spcPct val="100000"/>
              </a:lnSpc>
              <a:defRPr sz="4199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011654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288036"/>
            <a:ext cx="3811091" cy="35219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62" y="4814111"/>
            <a:ext cx="5524575" cy="167653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5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284956"/>
            <a:ext cx="0" cy="581263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168" y="288036"/>
            <a:ext cx="3809504" cy="35219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9168" y="4814111"/>
            <a:ext cx="5523781" cy="1677147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5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9927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64236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3"/>
            <a:ext cx="2475384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9168" y="192600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167327"/>
            <a:ext cx="2476178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4904" y="6029325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6471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97238"/>
            <a:ext cx="5522257" cy="267004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63" y="154800"/>
            <a:ext cx="2474590" cy="2667793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accent1"/>
                </a:solidFill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154800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8887" y="3048866"/>
            <a:ext cx="1161581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962" y="3297238"/>
            <a:ext cx="2473130" cy="2670048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903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64236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024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6449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287588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478911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562985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570413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763323"/>
            <a:ext cx="2475383" cy="1334265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835205"/>
            <a:ext cx="3809504" cy="126238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9325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8451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0717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1524000"/>
            <a:ext cx="2477765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04" y="1524000"/>
            <a:ext cx="2475384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110" y="1524000"/>
            <a:ext cx="2479352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0699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903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522413"/>
            <a:ext cx="0" cy="45727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522413"/>
            <a:ext cx="0" cy="4575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522413"/>
            <a:ext cx="0" cy="4575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91173" y="1524000"/>
            <a:ext cx="2477765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3334904" y="1524000"/>
            <a:ext cx="2475384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9430110" y="1524000"/>
            <a:ext cx="2479352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02597163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234377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523999"/>
            <a:ext cx="2475384" cy="4578351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6178" cy="45783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3683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9428522" y="288036"/>
            <a:ext cx="2479352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9428522" y="1524000"/>
            <a:ext cx="2479352" cy="45783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32585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1524000"/>
            <a:ext cx="2470717" cy="2289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04" y="1524000"/>
            <a:ext cx="2475384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9168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0738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111" y="1524000"/>
            <a:ext cx="2470621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285052"/>
            <a:ext cx="0" cy="581571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367653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2470717" cy="1558989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5385" cy="110063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143" y="1524000"/>
            <a:ext cx="2475384" cy="4576763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1745" y="1524000"/>
            <a:ext cx="5047593" cy="4576763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335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1524000"/>
            <a:ext cx="5049180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1524000"/>
            <a:ext cx="5047593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72727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7527" cy="2105089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2507" y="288035"/>
            <a:ext cx="2474590" cy="580955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30110" y="288035"/>
            <a:ext cx="2470622" cy="580955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429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0717" cy="199796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168" y="288000"/>
            <a:ext cx="2476178" cy="581104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30110" y="288000"/>
            <a:ext cx="2470622" cy="581104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328089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9019" cy="2105088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524000"/>
            <a:ext cx="2476178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1285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2" y="288036"/>
            <a:ext cx="2474591" cy="1997964"/>
          </a:xfrm>
        </p:spPr>
        <p:txBody>
          <a:bodyPr rIns="0"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10" y="288036"/>
            <a:ext cx="2470717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9173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2474590" cy="2105089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155529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04" y="1508395"/>
            <a:ext cx="2475384" cy="4594294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9168" y="288036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2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524000"/>
            <a:ext cx="2479352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90474" y="6411643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300318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916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1238250"/>
            <a:ext cx="3337125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99" y="3048000"/>
            <a:ext cx="1161670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9168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9168" y="4191000"/>
            <a:ext cx="3337125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0499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63" y="288036"/>
            <a:ext cx="2480241" cy="231077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2" y="762000"/>
            <a:ext cx="2473892" cy="1524000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10" y="288036"/>
            <a:ext cx="2479352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16580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63" y="288036"/>
            <a:ext cx="2480241" cy="231077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10" y="288036"/>
            <a:ext cx="2479352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761936"/>
            <a:ext cx="5521401" cy="2286064"/>
          </a:xfrm>
        </p:spPr>
        <p:txBody>
          <a:bodyPr rIns="457200"/>
          <a:lstStyle>
            <a:lvl1pPr>
              <a:lnSpc>
                <a:spcPct val="11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6265198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63" y="288036"/>
            <a:ext cx="2470717" cy="1997964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1325756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2" y="192024"/>
            <a:ext cx="5517779" cy="2105089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90474" y="6411643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1597889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99796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774" y="288035"/>
            <a:ext cx="2477701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5"/>
            <a:ext cx="2477701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5"/>
            <a:ext cx="2473130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90474" y="6411643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2774" y="3336925"/>
            <a:ext cx="2477701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3336925"/>
            <a:ext cx="2477701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3336925"/>
            <a:ext cx="2473130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78312764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99796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762000"/>
            <a:ext cx="2477701" cy="19995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9168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762000"/>
            <a:ext cx="2476178" cy="19995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761999"/>
            <a:ext cx="2473130" cy="19995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811797"/>
            <a:ext cx="2477701" cy="19991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9168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9168" y="3811797"/>
            <a:ext cx="2477701" cy="199914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811797"/>
            <a:ext cx="2473130" cy="19991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676015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6569"/>
            <a:ext cx="0" cy="581101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99" y="3048000"/>
            <a:ext cx="1161273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3049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89168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75695273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6569"/>
            <a:ext cx="0" cy="581101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99" y="3048000"/>
            <a:ext cx="1161273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1650"/>
            <a:ext cx="0" cy="30559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89168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37895588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2" y="1520825"/>
            <a:ext cx="2473130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4904" y="1520825"/>
            <a:ext cx="2475384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8037"/>
            <a:ext cx="5519908" cy="6285801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17649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63" y="1520825"/>
            <a:ext cx="2477765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49723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1520825"/>
            <a:ext cx="2477765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5750"/>
            <a:ext cx="8567416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65451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2096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8887" y="285750"/>
            <a:ext cx="11611845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762310876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87962" y="1522412"/>
            <a:ext cx="123104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87962" y="3048000"/>
            <a:ext cx="123104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87962" y="4570413"/>
            <a:ext cx="123104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389168" y="1522412"/>
            <a:ext cx="122970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389168" y="3048000"/>
            <a:ext cx="122970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389168" y="4570413"/>
            <a:ext cx="122970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7" y="1522412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7" y="30480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7" y="4570413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6" y="1522412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6" y="30480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6" y="4570413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86299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7"/>
            <a:ext cx="2474590" cy="199796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8000"/>
            <a:ext cx="8571384" cy="5811838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52691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352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3316" y="6391244"/>
            <a:ext cx="2761890" cy="212725"/>
          </a:xfrm>
        </p:spPr>
        <p:txBody>
          <a:bodyPr anchor="b" anchorCtr="0"/>
          <a:lstStyle>
            <a:lvl1pPr>
              <a:defRPr sz="800">
                <a:latin typeface="IBM Plex Sans" panose="020B0503050203000203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963" y="1522413"/>
            <a:ext cx="2471416" cy="4575175"/>
          </a:xfrm>
        </p:spPr>
        <p:txBody>
          <a:bodyPr/>
          <a:lstStyle>
            <a:lvl1pPr>
              <a:defRPr sz="14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1400">
                <a:latin typeface="IBM Plex Sans Light" panose="020B0403050203000203" pitchFamily="34" charset="0"/>
              </a:rPr>
              <a:t>Lorem ipsum dolor sit amet </a:t>
            </a:r>
            <a:r>
              <a:rPr lang="en-US" sz="1400" err="1">
                <a:latin typeface="IBM Plex Sans Light" panose="020B0403050203000203" pitchFamily="34" charset="0"/>
              </a:rPr>
              <a:t>donec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quam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felis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ultricies</a:t>
            </a:r>
            <a:r>
              <a:rPr lang="en-US" sz="1400">
                <a:latin typeface="IBM Plex Sans Light" panose="020B0403050203000203" pitchFamily="34" charset="0"/>
              </a:rPr>
              <a:t> nec </a:t>
            </a:r>
            <a:r>
              <a:rPr lang="en-US" sz="1400" err="1">
                <a:latin typeface="IBM Plex Sans Light" panose="020B0403050203000203" pitchFamily="34" charset="0"/>
              </a:rPr>
              <a:t>pellentesque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eu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pretium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quis</a:t>
            </a:r>
            <a:r>
              <a:rPr lang="en-US" sz="1400">
                <a:latin typeface="IBM Plex Sans Light" panose="020B0403050203000203" pitchFamily="34" charset="0"/>
              </a:rPr>
              <a:t> sem. </a:t>
            </a:r>
            <a:r>
              <a:rPr lang="en-US" sz="1400" err="1">
                <a:latin typeface="IBM Plex Sans Light" panose="020B0403050203000203" pitchFamily="34" charset="0"/>
              </a:rPr>
              <a:t>Nulla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conset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massa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quis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enim</a:t>
            </a:r>
            <a:r>
              <a:rPr lang="en-US" sz="140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5907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63" y="192024"/>
            <a:ext cx="2477765" cy="14295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30109" y="288000"/>
            <a:ext cx="2476178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61021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63" y="192024"/>
            <a:ext cx="2477765" cy="14295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9168" y="288000"/>
            <a:ext cx="2476178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8000"/>
            <a:ext cx="2476178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5483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234377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79662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234377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773842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8632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6927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421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975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6083300"/>
            <a:ext cx="2470906" cy="53714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83300"/>
            <a:ext cx="2473384" cy="53850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3654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37498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97588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6083300"/>
            <a:ext cx="2470906" cy="53714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83300"/>
            <a:ext cx="2473384" cy="53850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3654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20564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5178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54777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63" y="6239574"/>
            <a:ext cx="5518504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5178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09326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5750"/>
            <a:ext cx="5520847" cy="628933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006" y="6288882"/>
            <a:ext cx="769062" cy="286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5178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690451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756000"/>
            <a:ext cx="5049180" cy="4573588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006" y="6288882"/>
            <a:ext cx="769062" cy="2862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0847" cy="629012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95868829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2470717" cy="2105025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506" y="287338"/>
            <a:ext cx="2476178" cy="5808659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7337"/>
            <a:ext cx="2470622" cy="5810250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75163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7527" cy="1331913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1033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4800"/>
            <a:ext cx="8569797" cy="4416425"/>
          </a:xfrm>
        </p:spPr>
        <p:txBody>
          <a:bodyPr/>
          <a:lstStyle>
            <a:lvl1pPr>
              <a:defRPr sz="8398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17091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4953942" cy="2104835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9168" y="192024"/>
            <a:ext cx="5520318" cy="438924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3768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1416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7963" y="154800"/>
            <a:ext cx="7323771" cy="5178133"/>
          </a:xfrm>
        </p:spPr>
        <p:txBody>
          <a:bodyPr/>
          <a:lstStyle>
            <a:lvl1pPr>
              <a:lnSpc>
                <a:spcPct val="100000"/>
              </a:lnSpc>
              <a:defRPr sz="4199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2925397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288036"/>
            <a:ext cx="3811091" cy="35219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62" y="4814111"/>
            <a:ext cx="5524575" cy="167653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5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284956"/>
            <a:ext cx="0" cy="581263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168" y="288036"/>
            <a:ext cx="3809504" cy="35219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9168" y="4814111"/>
            <a:ext cx="5523781" cy="1677147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5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87641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64236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3"/>
            <a:ext cx="2475384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9168" y="192600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167327"/>
            <a:ext cx="2476178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4904" y="6029325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46774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97238"/>
            <a:ext cx="5522257" cy="267004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63" y="154800"/>
            <a:ext cx="2474590" cy="2667793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accent1"/>
                </a:solidFill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154800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8887" y="3048866"/>
            <a:ext cx="1161581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962" y="3297238"/>
            <a:ext cx="2473130" cy="2670048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87472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64236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024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6449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287588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478911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562985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570413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763323"/>
            <a:ext cx="2475383" cy="1334265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835205"/>
            <a:ext cx="3809504" cy="126238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9325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50958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0717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1524000"/>
            <a:ext cx="2477765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04" y="1524000"/>
            <a:ext cx="2475384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110" y="1524000"/>
            <a:ext cx="2479352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81670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903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522413"/>
            <a:ext cx="0" cy="45727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522413"/>
            <a:ext cx="0" cy="4575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522413"/>
            <a:ext cx="0" cy="4575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91173" y="1524000"/>
            <a:ext cx="2477765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3334904" y="1524000"/>
            <a:ext cx="2475384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9430110" y="1524000"/>
            <a:ext cx="2479352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01601126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234377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523999"/>
            <a:ext cx="2475384" cy="4578351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6178" cy="45783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3683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9428522" y="288036"/>
            <a:ext cx="2479352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9428522" y="1524000"/>
            <a:ext cx="2479352" cy="45783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23549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1524000"/>
            <a:ext cx="2470717" cy="2289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04" y="1524000"/>
            <a:ext cx="2475384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9168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0738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111" y="1524000"/>
            <a:ext cx="2470621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285052"/>
            <a:ext cx="0" cy="581571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336985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2470717" cy="1558989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5385" cy="110063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143" y="1524000"/>
            <a:ext cx="2475384" cy="4576763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1745" y="1524000"/>
            <a:ext cx="5047593" cy="4576763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77637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1524000"/>
            <a:ext cx="5049180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1524000"/>
            <a:ext cx="5047593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32531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7527" cy="2105089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2507" y="288035"/>
            <a:ext cx="2474590" cy="580955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30110" y="288035"/>
            <a:ext cx="2470622" cy="580955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7590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0717" cy="199796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168" y="288000"/>
            <a:ext cx="2476178" cy="581104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30110" y="288000"/>
            <a:ext cx="2470622" cy="581104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67638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9019" cy="2105088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524000"/>
            <a:ext cx="2476178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3481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2" y="288036"/>
            <a:ext cx="2474591" cy="1997964"/>
          </a:xfrm>
        </p:spPr>
        <p:txBody>
          <a:bodyPr rIns="0"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10" y="288036"/>
            <a:ext cx="2470717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839698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2474590" cy="2105089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155529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04" y="1508395"/>
            <a:ext cx="2475384" cy="4594294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9168" y="288036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2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524000"/>
            <a:ext cx="2479352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90474" y="6411643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524648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916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1238250"/>
            <a:ext cx="3337125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99" y="3048000"/>
            <a:ext cx="1161670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9168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9168" y="4191000"/>
            <a:ext cx="3337125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274742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63" y="288036"/>
            <a:ext cx="2480241" cy="231077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2" y="762000"/>
            <a:ext cx="2473892" cy="1524000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10" y="288036"/>
            <a:ext cx="2479352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188067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63" y="288036"/>
            <a:ext cx="2480241" cy="231077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10" y="288036"/>
            <a:ext cx="2479352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761936"/>
            <a:ext cx="5521401" cy="2286064"/>
          </a:xfrm>
        </p:spPr>
        <p:txBody>
          <a:bodyPr rIns="457200"/>
          <a:lstStyle>
            <a:lvl1pPr>
              <a:lnSpc>
                <a:spcPct val="11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1693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63" y="288036"/>
            <a:ext cx="2470717" cy="1997964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560267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2" y="192024"/>
            <a:ext cx="5517779" cy="2105089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90474" y="6411643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62081457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99796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774" y="288035"/>
            <a:ext cx="2477701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5"/>
            <a:ext cx="2477701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5"/>
            <a:ext cx="2473130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90474" y="6411643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2774" y="3336925"/>
            <a:ext cx="2477701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3336925"/>
            <a:ext cx="2477701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3336925"/>
            <a:ext cx="2473130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45002609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99796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762000"/>
            <a:ext cx="2477701" cy="19995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9168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762000"/>
            <a:ext cx="2476178" cy="19995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761999"/>
            <a:ext cx="2473130" cy="19995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811797"/>
            <a:ext cx="2477701" cy="19991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9168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9168" y="3811797"/>
            <a:ext cx="2477701" cy="199914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811797"/>
            <a:ext cx="2473130" cy="19991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563506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6569"/>
            <a:ext cx="0" cy="581101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99" y="3048000"/>
            <a:ext cx="1161273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3049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89168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32352878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6569"/>
            <a:ext cx="0" cy="581101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99" y="3048000"/>
            <a:ext cx="1161273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1650"/>
            <a:ext cx="0" cy="30559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89168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43394714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2" y="1520825"/>
            <a:ext cx="2473130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4904" y="1520825"/>
            <a:ext cx="2475384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8037"/>
            <a:ext cx="5519908" cy="6285801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45915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63" y="1520825"/>
            <a:ext cx="2477765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284998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1520825"/>
            <a:ext cx="2477765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5750"/>
            <a:ext cx="8567416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53262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32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8887" y="285750"/>
            <a:ext cx="11611845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725603864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87962" y="1522412"/>
            <a:ext cx="123104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87962" y="3048000"/>
            <a:ext cx="123104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87962" y="4570413"/>
            <a:ext cx="123104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389168" y="1522412"/>
            <a:ext cx="122970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389168" y="3048000"/>
            <a:ext cx="122970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389168" y="4570413"/>
            <a:ext cx="122970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7" y="1522412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7" y="30480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7" y="4570413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6" y="1522412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6" y="30480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6" y="4570413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64701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7"/>
            <a:ext cx="2474590" cy="199796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8000"/>
            <a:ext cx="8571384" cy="5811838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37132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352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3316" y="6391244"/>
            <a:ext cx="2761890" cy="212725"/>
          </a:xfrm>
        </p:spPr>
        <p:txBody>
          <a:bodyPr anchor="b" anchorCtr="0"/>
          <a:lstStyle>
            <a:lvl1pPr>
              <a:defRPr sz="800">
                <a:latin typeface="IBM Plex Sans" panose="020B0503050203000203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963" y="1522413"/>
            <a:ext cx="2471416" cy="4575175"/>
          </a:xfrm>
        </p:spPr>
        <p:txBody>
          <a:bodyPr/>
          <a:lstStyle>
            <a:lvl1pPr>
              <a:defRPr sz="14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1400">
                <a:latin typeface="IBM Plex Sans Light" panose="020B0403050203000203" pitchFamily="34" charset="0"/>
              </a:rPr>
              <a:t>Lorem ipsum dolor sit </a:t>
            </a:r>
            <a:r>
              <a:rPr lang="en-US" sz="1400" err="1">
                <a:latin typeface="IBM Plex Sans Light" panose="020B0403050203000203" pitchFamily="34" charset="0"/>
              </a:rPr>
              <a:t>amet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donec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quam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felis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ultricies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nec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pellentesque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eu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pretium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quis</a:t>
            </a:r>
            <a:r>
              <a:rPr lang="en-US" sz="1400">
                <a:latin typeface="IBM Plex Sans Light" panose="020B0403050203000203" pitchFamily="34" charset="0"/>
              </a:rPr>
              <a:t> sem. </a:t>
            </a:r>
            <a:r>
              <a:rPr lang="en-US" sz="1400" err="1">
                <a:latin typeface="IBM Plex Sans Light" panose="020B0403050203000203" pitchFamily="34" charset="0"/>
              </a:rPr>
              <a:t>Nulla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conset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massa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quis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enim</a:t>
            </a:r>
            <a:r>
              <a:rPr lang="en-US" sz="140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74673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63" y="192024"/>
            <a:ext cx="2477765" cy="14295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30109" y="288000"/>
            <a:ext cx="2476178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45696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63" y="192024"/>
            <a:ext cx="2477765" cy="14295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9168" y="288000"/>
            <a:ext cx="2476178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8000"/>
            <a:ext cx="2476178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58251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234377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91906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234377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5261"/>
      </p:ext>
    </p:extLst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307220"/>
      </p:ext>
    </p:extLst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18890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975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6083300"/>
            <a:ext cx="2470906" cy="53714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83300"/>
            <a:ext cx="2473384" cy="53850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3654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32198"/>
      </p:ext>
    </p:extLst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97588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6083300"/>
            <a:ext cx="2470906" cy="53714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83300"/>
            <a:ext cx="2473384" cy="538507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3654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5678"/>
      </p:ext>
    </p:extLst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5178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68556"/>
      </p:ext>
    </p:extLst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63" y="6239574"/>
            <a:ext cx="5518504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5445" y="6288882"/>
            <a:ext cx="769062" cy="286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5178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592789"/>
      </p:ext>
    </p:extLst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5750"/>
            <a:ext cx="5520847" cy="628933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006" y="6288882"/>
            <a:ext cx="769062" cy="286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5178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10462"/>
      </p:ext>
    </p:extLst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756000"/>
            <a:ext cx="5049180" cy="4573588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006" y="6288882"/>
            <a:ext cx="769062" cy="2862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0847" cy="629012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878296302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2470717" cy="2105025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506" y="287338"/>
            <a:ext cx="2476178" cy="5808659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7337"/>
            <a:ext cx="2470622" cy="5810250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01543"/>
      </p:ext>
    </p:extLst>
  </p:cSld>
  <p:clrMapOvr>
    <a:masterClrMapping/>
  </p:clrMapOvr>
  <p:transition spd="med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7527" cy="1331913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40617"/>
      </p:ext>
    </p:extLst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4800"/>
            <a:ext cx="8569797" cy="4416425"/>
          </a:xfrm>
        </p:spPr>
        <p:txBody>
          <a:bodyPr/>
          <a:lstStyle>
            <a:lvl1pPr>
              <a:defRPr sz="8398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08067"/>
      </p:ext>
    </p:extLst>
  </p:cSld>
  <p:clrMapOvr>
    <a:masterClrMapping/>
  </p:clrMapOvr>
  <p:transition spd="med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4953942" cy="2104835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9168" y="192024"/>
            <a:ext cx="5520318" cy="438924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90733"/>
      </p:ext>
    </p:extLst>
  </p:cSld>
  <p:clrMapOvr>
    <a:masterClrMapping/>
  </p:clrMapOvr>
  <p:transition spd="med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1416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7963" y="154800"/>
            <a:ext cx="7323771" cy="5178133"/>
          </a:xfrm>
        </p:spPr>
        <p:txBody>
          <a:bodyPr/>
          <a:lstStyle>
            <a:lvl1pPr>
              <a:lnSpc>
                <a:spcPct val="100000"/>
              </a:lnSpc>
              <a:defRPr sz="4199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5872515"/>
      </p:ext>
    </p:extLst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288036"/>
            <a:ext cx="3811091" cy="35219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62" y="4814111"/>
            <a:ext cx="5524575" cy="167653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5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284956"/>
            <a:ext cx="0" cy="581263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168" y="288036"/>
            <a:ext cx="3809504" cy="35219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9168" y="4814111"/>
            <a:ext cx="5523781" cy="1677147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5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99387"/>
      </p:ext>
    </p:extLst>
  </p:cSld>
  <p:clrMapOvr>
    <a:masterClrMapping/>
  </p:clrMapOvr>
  <p:transition spd="med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64236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3"/>
            <a:ext cx="2475384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9168" y="192600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167327"/>
            <a:ext cx="2476178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93105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4904" y="6029325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233546"/>
      </p:ext>
    </p:extLst>
  </p:cSld>
  <p:clrMapOvr>
    <a:masterClrMapping/>
  </p:clrMapOvr>
  <p:transition spd="med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97238"/>
            <a:ext cx="5522257" cy="267004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63" y="154800"/>
            <a:ext cx="2474590" cy="2667793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accent1"/>
                </a:solidFill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154800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8887" y="3048866"/>
            <a:ext cx="1161581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962" y="3297238"/>
            <a:ext cx="2473130" cy="2670048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1824"/>
      </p:ext>
    </p:extLst>
  </p:cSld>
  <p:clrMapOvr>
    <a:masterClrMapping/>
  </p:clrMapOvr>
  <p:transition spd="med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64236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024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6449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287588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478911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562985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570413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763323"/>
            <a:ext cx="2475383" cy="1334265"/>
          </a:xfrm>
        </p:spPr>
        <p:txBody>
          <a:bodyPr/>
          <a:lstStyle>
            <a:lvl1pPr>
              <a:lnSpc>
                <a:spcPct val="90000"/>
              </a:lnSpc>
              <a:defRPr sz="65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835205"/>
            <a:ext cx="3809504" cy="126238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9325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14832"/>
      </p:ext>
    </p:extLst>
  </p:cSld>
  <p:clrMapOvr>
    <a:masterClrMapping/>
  </p:clrMapOvr>
  <p:transition spd="med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0717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1524000"/>
            <a:ext cx="2477765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04" y="1524000"/>
            <a:ext cx="2475384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110" y="1524000"/>
            <a:ext cx="2479352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63895"/>
      </p:ext>
    </p:extLst>
  </p:cSld>
  <p:clrMapOvr>
    <a:masterClrMapping/>
  </p:clrMapOvr>
  <p:transition spd="med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903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522413"/>
            <a:ext cx="0" cy="45727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522413"/>
            <a:ext cx="0" cy="4575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522413"/>
            <a:ext cx="0" cy="4575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91173" y="1524000"/>
            <a:ext cx="2477765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3334904" y="1524000"/>
            <a:ext cx="2475384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9430110" y="1524000"/>
            <a:ext cx="2479352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06192603"/>
      </p:ext>
    </p:extLst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234377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523999"/>
            <a:ext cx="2475384" cy="4578351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6178" cy="45783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3683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9428522" y="288036"/>
            <a:ext cx="2479352" cy="92151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9428522" y="1524000"/>
            <a:ext cx="2479352" cy="45783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26377"/>
      </p:ext>
    </p:extLst>
  </p:cSld>
  <p:clrMapOvr>
    <a:masterClrMapping/>
  </p:clrMapOvr>
  <p:transition spd="med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1524000"/>
            <a:ext cx="2470717" cy="2289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04" y="1524000"/>
            <a:ext cx="2475384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9168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0738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111" y="1524000"/>
            <a:ext cx="2470621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285052"/>
            <a:ext cx="0" cy="581571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227200"/>
      </p:ext>
    </p:extLst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2470717" cy="1558989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5385" cy="110063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143" y="1524000"/>
            <a:ext cx="2475384" cy="4576763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1745" y="1524000"/>
            <a:ext cx="5047593" cy="4576763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34177"/>
      </p:ext>
    </p:extLst>
  </p:cSld>
  <p:clrMapOvr>
    <a:masterClrMapping/>
  </p:clrMapOvr>
  <p:transition spd="med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63" y="1524000"/>
            <a:ext cx="5049180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1524000"/>
            <a:ext cx="5047593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55593"/>
      </p:ext>
    </p:extLst>
  </p:cSld>
  <p:clrMapOvr>
    <a:masterClrMapping/>
  </p:clrMapOvr>
  <p:transition spd="med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7527" cy="2105089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2507" y="288035"/>
            <a:ext cx="2474590" cy="580955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30110" y="288035"/>
            <a:ext cx="2470622" cy="580955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28530"/>
      </p:ext>
    </p:extLst>
  </p:cSld>
  <p:clrMapOvr>
    <a:masterClrMapping/>
  </p:clrMapOvr>
  <p:transition spd="med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0717" cy="199796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168" y="288000"/>
            <a:ext cx="2476178" cy="581104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30110" y="288000"/>
            <a:ext cx="2470622" cy="581104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90754"/>
      </p:ext>
    </p:extLst>
  </p:cSld>
  <p:clrMapOvr>
    <a:masterClrMapping/>
  </p:clrMapOvr>
  <p:transition spd="med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9019" cy="2105088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524000"/>
            <a:ext cx="2476178" cy="457676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62549"/>
      </p:ext>
    </p:extLst>
  </p:cSld>
  <p:clrMapOvr>
    <a:masterClrMapping/>
  </p:clrMapOvr>
  <p:transition spd="med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2" y="288036"/>
            <a:ext cx="2474591" cy="1997964"/>
          </a:xfrm>
        </p:spPr>
        <p:txBody>
          <a:bodyPr rIns="0"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10" y="288036"/>
            <a:ext cx="2470717" cy="93888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524000"/>
            <a:ext cx="2476178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64952"/>
      </p:ext>
    </p:extLst>
  </p:cSld>
  <p:clrMapOvr>
    <a:masterClrMapping/>
  </p:clrMapOvr>
  <p:transition spd="med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2474590" cy="2105089"/>
          </a:xfrm>
        </p:spPr>
        <p:txBody>
          <a:bodyPr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155529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04" y="1508395"/>
            <a:ext cx="2475384" cy="4594294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9168" y="288036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9168" y="1524000"/>
            <a:ext cx="2476178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2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524000"/>
            <a:ext cx="2479352" cy="4576763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90474" y="6411643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252281"/>
      </p:ext>
    </p:extLst>
  </p:cSld>
  <p:clrMapOvr>
    <a:masterClrMapping/>
  </p:clrMapOvr>
  <p:transition spd="med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916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1238250"/>
            <a:ext cx="3337125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99" y="3048000"/>
            <a:ext cx="1161670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9168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9168" y="4191000"/>
            <a:ext cx="3337125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04636"/>
      </p:ext>
    </p:extLst>
  </p:cSld>
  <p:clrMapOvr>
    <a:masterClrMapping/>
  </p:clrMapOvr>
  <p:transition spd="med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63" y="288036"/>
            <a:ext cx="2480241" cy="231077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2" y="762000"/>
            <a:ext cx="2473892" cy="1524000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10" y="288036"/>
            <a:ext cx="2479352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18325"/>
      </p:ext>
    </p:extLst>
  </p:cSld>
  <p:clrMapOvr>
    <a:masterClrMapping/>
  </p:clrMapOvr>
  <p:transition spd="med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63" y="288036"/>
            <a:ext cx="2480241" cy="231077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9168" y="288036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30110" y="288036"/>
            <a:ext cx="2479352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9168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3335338"/>
            <a:ext cx="2476178" cy="247421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761936"/>
            <a:ext cx="5521401" cy="2286064"/>
          </a:xfrm>
        </p:spPr>
        <p:txBody>
          <a:bodyPr rIns="457200"/>
          <a:lstStyle>
            <a:lvl1pPr>
              <a:lnSpc>
                <a:spcPct val="11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040121"/>
      </p:ext>
    </p:extLst>
  </p:cSld>
  <p:clrMapOvr>
    <a:masterClrMapping/>
  </p:clrMapOvr>
  <p:transition spd="med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63" y="288036"/>
            <a:ext cx="2470717" cy="1997964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1724642"/>
      </p:ext>
    </p:extLst>
  </p:cSld>
  <p:clrMapOvr>
    <a:masterClrMapping/>
  </p:clrMapOvr>
  <p:transition spd="med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2" y="192024"/>
            <a:ext cx="5517779" cy="2105089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90474" y="6411643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9292729"/>
      </p:ext>
    </p:extLst>
  </p:cSld>
  <p:clrMapOvr>
    <a:masterClrMapping/>
  </p:clrMapOvr>
  <p:transition spd="med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99796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774" y="288035"/>
            <a:ext cx="2477701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5"/>
            <a:ext cx="2477701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5"/>
            <a:ext cx="2473130" cy="24780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90474" y="6411643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2774" y="3336925"/>
            <a:ext cx="2477701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3336925"/>
            <a:ext cx="2477701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3336925"/>
            <a:ext cx="2473130" cy="247802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95743074"/>
      </p:ext>
    </p:extLst>
  </p:cSld>
  <p:clrMapOvr>
    <a:masterClrMapping/>
  </p:clrMapOvr>
  <p:transition spd="med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99796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762000"/>
            <a:ext cx="2477701" cy="19995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9168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762000"/>
            <a:ext cx="2476178" cy="19995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761999"/>
            <a:ext cx="2473130" cy="19995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811797"/>
            <a:ext cx="2477701" cy="19991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9168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9168" y="3811797"/>
            <a:ext cx="2477701" cy="199914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811797"/>
            <a:ext cx="2473130" cy="19991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5051"/>
            <a:ext cx="0" cy="58110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007166"/>
      </p:ext>
    </p:extLst>
  </p:cSld>
  <p:clrMapOvr>
    <a:masterClrMapping/>
  </p:clrMapOvr>
  <p:transition spd="med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3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6569"/>
            <a:ext cx="0" cy="581101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99" y="3048000"/>
            <a:ext cx="1161273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3049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89168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32059987"/>
      </p:ext>
    </p:extLst>
  </p:cSld>
  <p:clrMapOvr>
    <a:masterClrMapping/>
  </p:clrMapOvr>
  <p:transition spd="med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9168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142810" y="286569"/>
            <a:ext cx="0" cy="581101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999" y="3048000"/>
            <a:ext cx="1161273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1650"/>
            <a:ext cx="0" cy="30559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5270" y="285051"/>
            <a:ext cx="0" cy="5812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37941"/>
            <a:ext cx="2474590" cy="2759647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1187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89168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6926"/>
            <a:ext cx="2474590" cy="2760662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03381624"/>
      </p:ext>
    </p:extLst>
  </p:cSld>
  <p:clrMapOvr>
    <a:masterClrMapping/>
  </p:clrMapOvr>
  <p:transition spd="med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2" y="1520825"/>
            <a:ext cx="2473130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4904" y="1520825"/>
            <a:ext cx="2475384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8037"/>
            <a:ext cx="5519908" cy="6285801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59040"/>
      </p:ext>
    </p:extLst>
  </p:cSld>
  <p:clrMapOvr>
    <a:masterClrMapping/>
  </p:clrMapOvr>
  <p:transition spd="med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63" y="1520825"/>
            <a:ext cx="2477765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03967"/>
      </p:ext>
    </p:extLst>
  </p:cSld>
  <p:clrMapOvr>
    <a:masterClrMapping/>
  </p:clrMapOvr>
  <p:transition spd="med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63" y="1520825"/>
            <a:ext cx="2477765" cy="457676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5750"/>
            <a:ext cx="8567416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05871"/>
      </p:ext>
    </p:extLst>
  </p:cSld>
  <p:clrMapOvr>
    <a:masterClrMapping/>
  </p:clrMapOvr>
  <p:transition spd="med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5130"/>
      </p:ext>
    </p:extLst>
  </p:cSld>
  <p:clrMapOvr>
    <a:masterClrMapping/>
  </p:clrMapOvr>
  <p:transition spd="med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8887" y="285750"/>
            <a:ext cx="11611845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036917110"/>
      </p:ext>
    </p:extLst>
  </p:cSld>
  <p:clrMapOvr>
    <a:masterClrMapping/>
  </p:clrMapOvr>
  <p:transition spd="med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87962" y="1522412"/>
            <a:ext cx="123104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87962" y="3048000"/>
            <a:ext cx="123104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87962" y="4570413"/>
            <a:ext cx="123104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389168" y="1522412"/>
            <a:ext cx="122970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389168" y="3048000"/>
            <a:ext cx="122970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389168" y="4570413"/>
            <a:ext cx="1229708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7" y="1522412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7" y="30480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7" y="4570413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6" y="1522412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6" y="30480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6" y="4570413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98263"/>
      </p:ext>
    </p:extLst>
  </p:cSld>
  <p:clrMapOvr>
    <a:masterClrMapping/>
  </p:clrMapOvr>
  <p:transition spd="med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7"/>
            <a:ext cx="2474590" cy="199796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8000"/>
            <a:ext cx="8571384" cy="5811838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93395"/>
      </p:ext>
    </p:extLst>
  </p:cSld>
  <p:clrMapOvr>
    <a:masterClrMapping/>
  </p:clrMapOvr>
  <p:transition spd="med"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76352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3316" y="6391244"/>
            <a:ext cx="2761890" cy="212725"/>
          </a:xfrm>
        </p:spPr>
        <p:txBody>
          <a:bodyPr anchor="b" anchorCtr="0"/>
          <a:lstStyle>
            <a:lvl1pPr>
              <a:defRPr sz="800">
                <a:latin typeface="IBM Plex Sans" panose="020B0503050203000203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963" y="1522413"/>
            <a:ext cx="2471416" cy="4575175"/>
          </a:xfrm>
        </p:spPr>
        <p:txBody>
          <a:bodyPr/>
          <a:lstStyle>
            <a:lvl1pPr>
              <a:defRPr sz="14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1400">
                <a:latin typeface="IBM Plex Sans Light" panose="020B0403050203000203" pitchFamily="34" charset="0"/>
              </a:rPr>
              <a:t>Lorem ipsum dolor sit </a:t>
            </a:r>
            <a:r>
              <a:rPr lang="en-US" sz="1400" err="1">
                <a:latin typeface="IBM Plex Sans Light" panose="020B0403050203000203" pitchFamily="34" charset="0"/>
              </a:rPr>
              <a:t>amet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donec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quam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felis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ultricies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nec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pellentesque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eu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pretium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quis</a:t>
            </a:r>
            <a:r>
              <a:rPr lang="en-US" sz="1400">
                <a:latin typeface="IBM Plex Sans Light" panose="020B0403050203000203" pitchFamily="34" charset="0"/>
              </a:rPr>
              <a:t> sem. </a:t>
            </a:r>
            <a:r>
              <a:rPr lang="en-US" sz="1400" err="1">
                <a:latin typeface="IBM Plex Sans Light" panose="020B0403050203000203" pitchFamily="34" charset="0"/>
              </a:rPr>
              <a:t>Nulla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conset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massa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quis</a:t>
            </a:r>
            <a:r>
              <a:rPr lang="en-US" sz="1400">
                <a:latin typeface="IBM Plex Sans Light" panose="020B0403050203000203" pitchFamily="34" charset="0"/>
              </a:rPr>
              <a:t> </a:t>
            </a:r>
            <a:r>
              <a:rPr lang="en-US" sz="1400" err="1">
                <a:latin typeface="IBM Plex Sans Light" panose="020B0403050203000203" pitchFamily="34" charset="0"/>
              </a:rPr>
              <a:t>enim</a:t>
            </a:r>
            <a:r>
              <a:rPr lang="en-US" sz="140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48385"/>
      </p:ext>
    </p:extLst>
  </p:cSld>
  <p:clrMapOvr>
    <a:masterClrMapping/>
  </p:clrMapOvr>
  <p:transition spd="med"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63" y="192024"/>
            <a:ext cx="2477765" cy="14295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30109" y="288000"/>
            <a:ext cx="2476178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24437"/>
      </p:ext>
    </p:extLst>
  </p:cSld>
  <p:clrMapOvr>
    <a:masterClrMapping/>
  </p:clrMapOvr>
  <p:transition spd="med"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63" y="192024"/>
            <a:ext cx="2477765" cy="14295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3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9168" y="288000"/>
            <a:ext cx="2476178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8000"/>
            <a:ext cx="2476178" cy="5812631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90225"/>
      </p:ext>
    </p:extLst>
  </p:cSld>
  <p:clrMapOvr>
    <a:masterClrMapping/>
  </p:clrMapOvr>
  <p:transition spd="med"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234377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87963" y="6408000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05140"/>
      </p:ext>
    </p:extLst>
  </p:cSld>
  <p:clrMapOvr>
    <a:masterClrMapping/>
  </p:clrMapOvr>
  <p:transition spd="med"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288036"/>
            <a:ext cx="2474590" cy="1234377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7576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256099"/>
      </p:ext>
    </p:extLst>
  </p:cSld>
  <p:clrMapOvr>
    <a:masterClrMapping/>
  </p:clrMapOvr>
  <p:transition spd="med"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548628"/>
      </p:ext>
    </p:extLst>
  </p:cSld>
  <p:clrMapOvr>
    <a:masterClrMapping/>
  </p:clrMapOvr>
  <p:transition spd="med"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F8CF7-440A-EAE2-D078-F5E22FD64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0DD18-7789-71B8-8B5B-D777F960D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09" indent="0" algn="ctr">
              <a:buNone/>
              <a:defRPr sz="2000"/>
            </a:lvl2pPr>
            <a:lvl3pPr marL="914217" indent="0" algn="ctr">
              <a:buNone/>
              <a:defRPr sz="1800"/>
            </a:lvl3pPr>
            <a:lvl4pPr marL="1371326" indent="0" algn="ctr">
              <a:buNone/>
              <a:defRPr sz="1600"/>
            </a:lvl4pPr>
            <a:lvl5pPr marL="1828434" indent="0" algn="ctr">
              <a:buNone/>
              <a:defRPr sz="1600"/>
            </a:lvl5pPr>
            <a:lvl6pPr marL="2285543" indent="0" algn="ctr">
              <a:buNone/>
              <a:defRPr sz="1600"/>
            </a:lvl6pPr>
            <a:lvl7pPr marL="2742651" indent="0" algn="ctr">
              <a:buNone/>
              <a:defRPr sz="1600"/>
            </a:lvl7pPr>
            <a:lvl8pPr marL="3199760" indent="0" algn="ctr">
              <a:buNone/>
              <a:defRPr sz="1600"/>
            </a:lvl8pPr>
            <a:lvl9pPr marL="365686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F387C-EAD8-0722-EA8F-E008EAED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F5F38-35C7-0E4F-8837-E1059CF40542}" type="datetimeFigureOut">
              <a:rPr lang="en-MX" smtClean="0"/>
              <a:t>6/17/26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7E163-6723-5226-DAF8-1C6092DC7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B6605-1E67-FA34-D51B-F62E3966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0FBD-8689-B747-B753-F2A7D6A682B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78312953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B1ADC-97ED-6815-E461-679681744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EC262-77E5-04EF-9046-2CE23E513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1BFBE-B215-EC86-1C2D-FFEA55C8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F5F38-35C7-0E4F-8837-E1059CF40542}" type="datetimeFigureOut">
              <a:rPr lang="en-MX" smtClean="0"/>
              <a:t>6/17/26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71E79-F31E-2582-9D46-150FF5C5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FFDD8-E9B0-DCB3-7337-323A302B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0FBD-8689-B747-B753-F2A7D6A682B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79388679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4C047-A2C9-A784-156A-B129A44C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0EBDC-49CA-283F-7904-D6EE17AAB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21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32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4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5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6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86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B6C43-3EB7-21A3-4199-7DC83038F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F5F38-35C7-0E4F-8837-E1059CF40542}" type="datetimeFigureOut">
              <a:rPr lang="en-MX" smtClean="0"/>
              <a:t>6/17/26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9332F-38E1-EC75-8112-303ABCC2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9E1AF-3588-9E99-E1A6-596E5BA84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0FBD-8689-B747-B753-F2A7D6A682B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94727544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B7D4A-25EE-3ADE-1AF2-6A19AC226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0956-634E-A892-C1C3-615F60015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5634-50D5-8DC1-E0FC-BA1C7552B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9C3B2-508D-3C50-50A0-9C784D5C8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F5F38-35C7-0E4F-8837-E1059CF40542}" type="datetimeFigureOut">
              <a:rPr lang="en-MX" smtClean="0"/>
              <a:t>6/17/26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C1F00-E070-AFA6-2F7C-EB01540A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1656E-1C78-EB85-AB72-E103C781D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0FBD-8689-B747-B753-F2A7D6A682B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92840773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49807-09F5-694F-9B1A-3F7A7EC62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B8A17-A92A-A139-8083-F444AAADD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3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04659-A5AD-7771-EB71-4A3B44182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E7603-141B-C198-6680-FB0FCF119E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3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62155-3FF4-77D6-B5B2-9A935C222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D1D858-3C48-2E52-B35C-1E726006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F5F38-35C7-0E4F-8837-E1059CF40542}" type="datetimeFigureOut">
              <a:rPr lang="en-MX" smtClean="0"/>
              <a:t>6/17/26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34A85-0CC8-7135-8329-F6D0B610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692DBC-FB63-9765-37AE-358718EE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0FBD-8689-B747-B753-F2A7D6A682B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55150592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7739E-9441-2185-006E-349CCC502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2BE44-28D1-F7F8-FA4C-3896BF4EC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F5F38-35C7-0E4F-8837-E1059CF40542}" type="datetimeFigureOut">
              <a:rPr lang="en-MX" smtClean="0"/>
              <a:t>6/17/26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B4EF1-E272-FE59-796D-7D8D578E1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C2241-FE2C-4AA0-38B1-926A0A903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0FBD-8689-B747-B753-F2A7D6A682B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64503633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45137F-5F97-052C-1CE7-EB2F66A52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F5F38-35C7-0E4F-8837-E1059CF40542}" type="datetimeFigureOut">
              <a:rPr lang="en-MX" smtClean="0"/>
              <a:t>6/17/26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9E0DD7-1A92-401F-C737-A48AA8EA6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6A005-A18F-D1BE-00E8-4CBC7CF1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0FBD-8689-B747-B753-F2A7D6A682B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83922512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EE421-D3F9-3704-2D73-775A50E58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00030-12E5-3CB6-B63E-9992B3BB1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F8D4C-C00B-715A-E593-A60B84251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09" indent="0">
              <a:buNone/>
              <a:defRPr sz="1400"/>
            </a:lvl2pPr>
            <a:lvl3pPr marL="914217" indent="0">
              <a:buNone/>
              <a:defRPr sz="1200"/>
            </a:lvl3pPr>
            <a:lvl4pPr marL="1371326" indent="0">
              <a:buNone/>
              <a:defRPr sz="1000"/>
            </a:lvl4pPr>
            <a:lvl5pPr marL="1828434" indent="0">
              <a:buNone/>
              <a:defRPr sz="1000"/>
            </a:lvl5pPr>
            <a:lvl6pPr marL="2285543" indent="0">
              <a:buNone/>
              <a:defRPr sz="1000"/>
            </a:lvl6pPr>
            <a:lvl7pPr marL="2742651" indent="0">
              <a:buNone/>
              <a:defRPr sz="1000"/>
            </a:lvl7pPr>
            <a:lvl8pPr marL="3199760" indent="0">
              <a:buNone/>
              <a:defRPr sz="1000"/>
            </a:lvl8pPr>
            <a:lvl9pPr marL="365686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23CE2-3172-57B9-77DB-2A433F626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F5F38-35C7-0E4F-8837-E1059CF40542}" type="datetimeFigureOut">
              <a:rPr lang="en-MX" smtClean="0"/>
              <a:t>6/17/26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46CDA-837C-6CE4-59AE-7C212F57D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75C01-5B23-F53E-CD28-D09C7AF3C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0FBD-8689-B747-B753-F2A7D6A682B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678249991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FF23B-0C60-5AA4-A44B-F650A3DBA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0BD69-5391-E72A-970B-B7CEAA0F2D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109" indent="0">
              <a:buNone/>
              <a:defRPr sz="2799"/>
            </a:lvl2pPr>
            <a:lvl3pPr marL="914217" indent="0">
              <a:buNone/>
              <a:defRPr sz="2400"/>
            </a:lvl3pPr>
            <a:lvl4pPr marL="1371326" indent="0">
              <a:buNone/>
              <a:defRPr sz="2000"/>
            </a:lvl4pPr>
            <a:lvl5pPr marL="1828434" indent="0">
              <a:buNone/>
              <a:defRPr sz="2000"/>
            </a:lvl5pPr>
            <a:lvl6pPr marL="2285543" indent="0">
              <a:buNone/>
              <a:defRPr sz="2000"/>
            </a:lvl6pPr>
            <a:lvl7pPr marL="2742651" indent="0">
              <a:buNone/>
              <a:defRPr sz="2000"/>
            </a:lvl7pPr>
            <a:lvl8pPr marL="3199760" indent="0">
              <a:buNone/>
              <a:defRPr sz="2000"/>
            </a:lvl8pPr>
            <a:lvl9pPr marL="3656868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6B840-BC49-878A-B3AB-5232B7069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09" indent="0">
              <a:buNone/>
              <a:defRPr sz="1400"/>
            </a:lvl2pPr>
            <a:lvl3pPr marL="914217" indent="0">
              <a:buNone/>
              <a:defRPr sz="1200"/>
            </a:lvl3pPr>
            <a:lvl4pPr marL="1371326" indent="0">
              <a:buNone/>
              <a:defRPr sz="1000"/>
            </a:lvl4pPr>
            <a:lvl5pPr marL="1828434" indent="0">
              <a:buNone/>
              <a:defRPr sz="1000"/>
            </a:lvl5pPr>
            <a:lvl6pPr marL="2285543" indent="0">
              <a:buNone/>
              <a:defRPr sz="1000"/>
            </a:lvl6pPr>
            <a:lvl7pPr marL="2742651" indent="0">
              <a:buNone/>
              <a:defRPr sz="1000"/>
            </a:lvl7pPr>
            <a:lvl8pPr marL="3199760" indent="0">
              <a:buNone/>
              <a:defRPr sz="1000"/>
            </a:lvl8pPr>
            <a:lvl9pPr marL="365686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95862-1223-8734-CA29-2A3C95682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F5F38-35C7-0E4F-8837-E1059CF40542}" type="datetimeFigureOut">
              <a:rPr lang="en-MX" smtClean="0"/>
              <a:t>6/17/26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32463-310F-B723-7E27-DF1F1748F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25B27-A720-1A4C-175A-A726D23D4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0FBD-8689-B747-B753-F2A7D6A682B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746277229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228E5-12AB-C17B-E041-FF21E135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DBD3B-4E6D-BB8C-BE62-6CF6077C0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BBA5A-0C35-AE7B-59AF-DF33E3019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F5F38-35C7-0E4F-8837-E1059CF40542}" type="datetimeFigureOut">
              <a:rPr lang="en-MX" smtClean="0"/>
              <a:t>6/17/26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F8EC1-B8B4-B89D-2309-691B98726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10843-8B90-A57B-7812-41B23058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0FBD-8689-B747-B753-F2A7D6A682B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10144258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03CD76-D5A5-5CD8-77FD-E1E0C20A10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C478FA-F123-2B29-2348-1A223F9A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75EC3-9AC8-00D8-A78F-D8312925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F5F38-35C7-0E4F-8837-E1059CF40542}" type="datetimeFigureOut">
              <a:rPr lang="en-MX" smtClean="0"/>
              <a:t>6/17/26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0EE4A-0FBD-8BC4-F7AE-DBFAA723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C2427-1E5D-61AB-E3AD-B4574B275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30FBD-8689-B747-B753-F2A7D6A682B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397287708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117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26" Type="http://schemas.openxmlformats.org/officeDocument/2006/relationships/slideLayout" Target="../slideLayouts/slideLayout76.xml"/><Relationship Id="rId39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71.xml"/><Relationship Id="rId34" Type="http://schemas.openxmlformats.org/officeDocument/2006/relationships/slideLayout" Target="../slideLayouts/slideLayout84.xml"/><Relationship Id="rId42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7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74.xml"/><Relationship Id="rId32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7.xml"/><Relationship Id="rId40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5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8.xml"/><Relationship Id="rId36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94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5.xml"/><Relationship Id="rId43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8.xml"/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33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8.xml"/><Relationship Id="rId46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91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2.xml"/><Relationship Id="rId18" Type="http://schemas.openxmlformats.org/officeDocument/2006/relationships/slideLayout" Target="../slideLayouts/slideLayout117.xml"/><Relationship Id="rId26" Type="http://schemas.openxmlformats.org/officeDocument/2006/relationships/slideLayout" Target="../slideLayouts/slideLayout125.xml"/><Relationship Id="rId39" Type="http://schemas.openxmlformats.org/officeDocument/2006/relationships/slideLayout" Target="../slideLayouts/slideLayout138.xml"/><Relationship Id="rId21" Type="http://schemas.openxmlformats.org/officeDocument/2006/relationships/slideLayout" Target="../slideLayouts/slideLayout120.xml"/><Relationship Id="rId34" Type="http://schemas.openxmlformats.org/officeDocument/2006/relationships/slideLayout" Target="../slideLayouts/slideLayout133.xml"/><Relationship Id="rId42" Type="http://schemas.openxmlformats.org/officeDocument/2006/relationships/slideLayout" Target="../slideLayouts/slideLayout141.xml"/><Relationship Id="rId47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101.xml"/><Relationship Id="rId16" Type="http://schemas.openxmlformats.org/officeDocument/2006/relationships/slideLayout" Target="../slideLayouts/slideLayout115.xml"/><Relationship Id="rId29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10.xml"/><Relationship Id="rId24" Type="http://schemas.openxmlformats.org/officeDocument/2006/relationships/slideLayout" Target="../slideLayouts/slideLayout123.xml"/><Relationship Id="rId32" Type="http://schemas.openxmlformats.org/officeDocument/2006/relationships/slideLayout" Target="../slideLayouts/slideLayout131.xml"/><Relationship Id="rId37" Type="http://schemas.openxmlformats.org/officeDocument/2006/relationships/slideLayout" Target="../slideLayouts/slideLayout136.xml"/><Relationship Id="rId40" Type="http://schemas.openxmlformats.org/officeDocument/2006/relationships/slideLayout" Target="../slideLayouts/slideLayout139.xml"/><Relationship Id="rId45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14.xml"/><Relationship Id="rId23" Type="http://schemas.openxmlformats.org/officeDocument/2006/relationships/slideLayout" Target="../slideLayouts/slideLayout122.xml"/><Relationship Id="rId28" Type="http://schemas.openxmlformats.org/officeDocument/2006/relationships/slideLayout" Target="../slideLayouts/slideLayout127.xml"/><Relationship Id="rId36" Type="http://schemas.openxmlformats.org/officeDocument/2006/relationships/slideLayout" Target="../slideLayouts/slideLayout135.xml"/><Relationship Id="rId49" Type="http://schemas.openxmlformats.org/officeDocument/2006/relationships/theme" Target="../theme/theme3.xml"/><Relationship Id="rId10" Type="http://schemas.openxmlformats.org/officeDocument/2006/relationships/slideLayout" Target="../slideLayouts/slideLayout109.xml"/><Relationship Id="rId19" Type="http://schemas.openxmlformats.org/officeDocument/2006/relationships/slideLayout" Target="../slideLayouts/slideLayout118.xml"/><Relationship Id="rId31" Type="http://schemas.openxmlformats.org/officeDocument/2006/relationships/slideLayout" Target="../slideLayouts/slideLayout130.xml"/><Relationship Id="rId44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slideLayout" Target="../slideLayouts/slideLayout113.xml"/><Relationship Id="rId22" Type="http://schemas.openxmlformats.org/officeDocument/2006/relationships/slideLayout" Target="../slideLayouts/slideLayout121.xml"/><Relationship Id="rId27" Type="http://schemas.openxmlformats.org/officeDocument/2006/relationships/slideLayout" Target="../slideLayouts/slideLayout126.xml"/><Relationship Id="rId30" Type="http://schemas.openxmlformats.org/officeDocument/2006/relationships/slideLayout" Target="../slideLayouts/slideLayout129.xml"/><Relationship Id="rId35" Type="http://schemas.openxmlformats.org/officeDocument/2006/relationships/slideLayout" Target="../slideLayouts/slideLayout134.xml"/><Relationship Id="rId43" Type="http://schemas.openxmlformats.org/officeDocument/2006/relationships/slideLayout" Target="../slideLayouts/slideLayout142.xml"/><Relationship Id="rId48" Type="http://schemas.openxmlformats.org/officeDocument/2006/relationships/slideLayout" Target="../slideLayouts/slideLayout147.xml"/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12" Type="http://schemas.openxmlformats.org/officeDocument/2006/relationships/slideLayout" Target="../slideLayouts/slideLayout111.xml"/><Relationship Id="rId17" Type="http://schemas.openxmlformats.org/officeDocument/2006/relationships/slideLayout" Target="../slideLayouts/slideLayout116.xml"/><Relationship Id="rId25" Type="http://schemas.openxmlformats.org/officeDocument/2006/relationships/slideLayout" Target="../slideLayouts/slideLayout124.xml"/><Relationship Id="rId33" Type="http://schemas.openxmlformats.org/officeDocument/2006/relationships/slideLayout" Target="../slideLayouts/slideLayout132.xml"/><Relationship Id="rId38" Type="http://schemas.openxmlformats.org/officeDocument/2006/relationships/slideLayout" Target="../slideLayouts/slideLayout137.xml"/><Relationship Id="rId46" Type="http://schemas.openxmlformats.org/officeDocument/2006/relationships/slideLayout" Target="../slideLayouts/slideLayout145.xml"/><Relationship Id="rId20" Type="http://schemas.openxmlformats.org/officeDocument/2006/relationships/slideLayout" Target="../slideLayouts/slideLayout119.xml"/><Relationship Id="rId41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9.xml"/><Relationship Id="rId2" Type="http://schemas.openxmlformats.org/officeDocument/2006/relationships/slideLayout" Target="../slideLayouts/slideLayout149.xml"/><Relationship Id="rId1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8.xml"/><Relationship Id="rId5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7585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23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699"/>
            <a:ext cx="11293592" cy="443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963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15051190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</p:sldLayoutIdLst>
  <p:transition spd="med"/>
  <p:hf hd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>
          <p15:clr>
            <a:srgbClr val="EE5396"/>
          </p15:clr>
        </p15:guide>
        <p15:guide id="20" orient="horz" pos="958">
          <p15:clr>
            <a:srgbClr val="EE5396"/>
          </p15:clr>
        </p15:guide>
        <p15:guide id="25" orient="horz" pos="7682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>
          <p15:clr>
            <a:srgbClr val="EE5396"/>
          </p15:clr>
        </p15:guide>
        <p15:guide id="32" orient="horz" pos="6720">
          <p15:clr>
            <a:srgbClr val="EE5396"/>
          </p15:clr>
        </p15:guide>
        <p15:guide id="33" orient="horz" pos="2880">
          <p15:clr>
            <a:srgbClr val="EE5396"/>
          </p15:clr>
        </p15:guide>
        <p15:guide id="34" orient="horz" pos="4800">
          <p15:clr>
            <a:srgbClr val="EE5396"/>
          </p15:clr>
        </p15:guide>
        <p15:guide id="35" orient="horz" pos="5758">
          <p15:clr>
            <a:srgbClr val="EE5396"/>
          </p15:clr>
        </p15:guide>
        <p15:guide id="36" orient="horz" pos="8284">
          <p15:clr>
            <a:srgbClr val="9FCC3B"/>
          </p15:clr>
        </p15:guide>
        <p15:guide id="37" orient="horz" pos="360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7585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23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699"/>
            <a:ext cx="11293592" cy="443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963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8420585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748" r:id="rId24"/>
    <p:sldLayoutId id="2147483749" r:id="rId25"/>
    <p:sldLayoutId id="2147483750" r:id="rId26"/>
    <p:sldLayoutId id="2147483751" r:id="rId27"/>
    <p:sldLayoutId id="2147483752" r:id="rId28"/>
    <p:sldLayoutId id="2147483753" r:id="rId29"/>
    <p:sldLayoutId id="2147483754" r:id="rId30"/>
    <p:sldLayoutId id="2147483755" r:id="rId31"/>
    <p:sldLayoutId id="2147483756" r:id="rId32"/>
    <p:sldLayoutId id="2147483757" r:id="rId33"/>
    <p:sldLayoutId id="2147483758" r:id="rId34"/>
    <p:sldLayoutId id="2147483759" r:id="rId35"/>
    <p:sldLayoutId id="2147483760" r:id="rId36"/>
    <p:sldLayoutId id="2147483761" r:id="rId37"/>
    <p:sldLayoutId id="2147483762" r:id="rId38"/>
    <p:sldLayoutId id="2147483763" r:id="rId39"/>
    <p:sldLayoutId id="2147483764" r:id="rId40"/>
    <p:sldLayoutId id="2147483765" r:id="rId41"/>
    <p:sldLayoutId id="2147483766" r:id="rId42"/>
    <p:sldLayoutId id="2147483767" r:id="rId43"/>
    <p:sldLayoutId id="2147483768" r:id="rId44"/>
    <p:sldLayoutId id="2147483769" r:id="rId45"/>
    <p:sldLayoutId id="2147483770" r:id="rId46"/>
    <p:sldLayoutId id="2147483771" r:id="rId47"/>
    <p:sldLayoutId id="2147483772" r:id="rId48"/>
    <p:sldLayoutId id="2147483773" r:id="rId49"/>
  </p:sldLayoutIdLst>
  <p:transition spd="med"/>
  <p:hf hd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>
          <p15:clr>
            <a:srgbClr val="EE5396"/>
          </p15:clr>
        </p15:guide>
        <p15:guide id="20" orient="horz" pos="958">
          <p15:clr>
            <a:srgbClr val="EE5396"/>
          </p15:clr>
        </p15:guide>
        <p15:guide id="25" orient="horz" pos="7682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>
          <p15:clr>
            <a:srgbClr val="EE5396"/>
          </p15:clr>
        </p15:guide>
        <p15:guide id="32" orient="horz" pos="6720">
          <p15:clr>
            <a:srgbClr val="EE5396"/>
          </p15:clr>
        </p15:guide>
        <p15:guide id="33" orient="horz" pos="2880">
          <p15:clr>
            <a:srgbClr val="EE5396"/>
          </p15:clr>
        </p15:guide>
        <p15:guide id="34" orient="horz" pos="4800">
          <p15:clr>
            <a:srgbClr val="EE5396"/>
          </p15:clr>
        </p15:guide>
        <p15:guide id="35" orient="horz" pos="5758">
          <p15:clr>
            <a:srgbClr val="EE5396"/>
          </p15:clr>
        </p15:guide>
        <p15:guide id="36" orient="horz" pos="8284">
          <p15:clr>
            <a:srgbClr val="9FCC3B"/>
          </p15:clr>
        </p15:guide>
        <p15:guide id="37" orient="horz" pos="360">
          <p15:clr>
            <a:srgbClr val="9FCC3B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7585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23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699"/>
            <a:ext cx="11293592" cy="443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963" y="6411643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9384315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  <p:sldLayoutId id="2147483794" r:id="rId18"/>
    <p:sldLayoutId id="2147483795" r:id="rId19"/>
    <p:sldLayoutId id="2147483796" r:id="rId20"/>
    <p:sldLayoutId id="2147483797" r:id="rId21"/>
    <p:sldLayoutId id="2147483798" r:id="rId22"/>
    <p:sldLayoutId id="2147483799" r:id="rId23"/>
    <p:sldLayoutId id="2147483800" r:id="rId24"/>
    <p:sldLayoutId id="2147483801" r:id="rId25"/>
    <p:sldLayoutId id="2147483802" r:id="rId26"/>
    <p:sldLayoutId id="2147483803" r:id="rId27"/>
    <p:sldLayoutId id="2147483804" r:id="rId28"/>
    <p:sldLayoutId id="2147483805" r:id="rId29"/>
    <p:sldLayoutId id="2147483806" r:id="rId30"/>
    <p:sldLayoutId id="2147483807" r:id="rId31"/>
    <p:sldLayoutId id="2147483808" r:id="rId32"/>
    <p:sldLayoutId id="2147483809" r:id="rId33"/>
    <p:sldLayoutId id="2147483810" r:id="rId34"/>
    <p:sldLayoutId id="2147483811" r:id="rId35"/>
    <p:sldLayoutId id="2147483812" r:id="rId36"/>
    <p:sldLayoutId id="2147483813" r:id="rId37"/>
    <p:sldLayoutId id="2147483814" r:id="rId38"/>
    <p:sldLayoutId id="2147483815" r:id="rId39"/>
    <p:sldLayoutId id="2147483816" r:id="rId40"/>
    <p:sldLayoutId id="2147483817" r:id="rId41"/>
    <p:sldLayoutId id="2147483818" r:id="rId42"/>
    <p:sldLayoutId id="2147483819" r:id="rId43"/>
    <p:sldLayoutId id="2147483820" r:id="rId44"/>
    <p:sldLayoutId id="2147483821" r:id="rId45"/>
    <p:sldLayoutId id="2147483822" r:id="rId46"/>
    <p:sldLayoutId id="2147483823" r:id="rId47"/>
    <p:sldLayoutId id="2147483824" r:id="rId48"/>
  </p:sldLayoutIdLst>
  <p:transition spd="med"/>
  <p:hf hd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>
          <p15:clr>
            <a:srgbClr val="EE5396"/>
          </p15:clr>
        </p15:guide>
        <p15:guide id="20" orient="horz" pos="958">
          <p15:clr>
            <a:srgbClr val="EE5396"/>
          </p15:clr>
        </p15:guide>
        <p15:guide id="25" orient="horz" pos="7682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>
          <p15:clr>
            <a:srgbClr val="EE5396"/>
          </p15:clr>
        </p15:guide>
        <p15:guide id="32" orient="horz" pos="6720">
          <p15:clr>
            <a:srgbClr val="EE5396"/>
          </p15:clr>
        </p15:guide>
        <p15:guide id="33" orient="horz" pos="2880">
          <p15:clr>
            <a:srgbClr val="EE5396"/>
          </p15:clr>
        </p15:guide>
        <p15:guide id="34" orient="horz" pos="4800">
          <p15:clr>
            <a:srgbClr val="EE5396"/>
          </p15:clr>
        </p15:guide>
        <p15:guide id="35" orient="horz" pos="5758">
          <p15:clr>
            <a:srgbClr val="EE5396"/>
          </p15:clr>
        </p15:guide>
        <p15:guide id="36" orient="horz" pos="8284">
          <p15:clr>
            <a:srgbClr val="9FCC3B"/>
          </p15:clr>
        </p15:guide>
        <p15:guide id="37" orient="horz" pos="360">
          <p15:clr>
            <a:srgbClr val="9FCC3B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533E66-DC36-8436-94E8-A5B19CDA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C4307-C69D-2F3C-7222-AFDBAF634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00EE2-2854-BFE2-7D9D-A4514CCBD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F5F38-35C7-0E4F-8837-E1059CF40542}" type="datetimeFigureOut">
              <a:rPr lang="en-MX" smtClean="0"/>
              <a:t>6/17/26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2BB36-7044-87CE-5155-DCE16677E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B00B1-21DE-9D06-64AB-2921087B4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30FBD-8689-B747-B753-F2A7D6A682BB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77863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85746" y="285970"/>
            <a:ext cx="5423076" cy="380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700"/>
              </a:lnSpc>
            </a:pPr>
            <a:r>
              <a:rPr lang="en-US" sz="4200">
                <a:solidFill>
                  <a:srgbClr val="000000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From AI tools to AI delivery systems</a:t>
            </a:r>
            <a:endParaRPr lang="en-US" sz="4200"/>
          </a:p>
          <a:p>
            <a:pPr>
              <a:lnSpc>
                <a:spcPts val="2500"/>
              </a:lnSpc>
            </a:pPr>
            <a:endParaRPr lang="en-US" sz="4200"/>
          </a:p>
          <a:p>
            <a:pPr>
              <a:lnSpc>
                <a:spcPts val="2500"/>
              </a:lnSpc>
            </a:pPr>
            <a:r>
              <a:rPr lang="en-US" sz="2100" i="1" dirty="0">
                <a:solidFill>
                  <a:srgbClr val="000000"/>
                </a:solidFill>
                <a:latin typeface="+mj-lt"/>
                <a:ea typeface="IBM Plex Sans Regular" pitchFamily="34" charset="-122"/>
                <a:cs typeface="IBM Plex Sans Regular" pitchFamily="34" charset="-120"/>
              </a:rPr>
              <a:t>Moving beyond code generation to real enterprise outcomes</a:t>
            </a:r>
            <a:endParaRPr lang="en-US" sz="2100" i="1">
              <a:solidFill>
                <a:srgbClr val="000000"/>
              </a:solidFill>
              <a:latin typeface="+mj-lt"/>
              <a:ea typeface="IBM Plex Sans Regular" pitchFamily="34" charset="-122"/>
              <a:cs typeface="IBM Plex Sans Regular" pitchFamily="34" charset="-120"/>
            </a:endParaRPr>
          </a:p>
        </p:txBody>
      </p:sp>
      <p:pic>
        <p:nvPicPr>
          <p:cNvPr id="3" name="Image 0" descr="IBM-logo®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46" y="6286629"/>
            <a:ext cx="767987" cy="286542"/>
          </a:xfrm>
          <a:prstGeom prst="rect">
            <a:avLst/>
          </a:prstGeom>
        </p:spPr>
      </p:pic>
      <p:pic>
        <p:nvPicPr>
          <p:cNvPr id="4" name="Image 1" descr="8-B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46" y="6286629"/>
            <a:ext cx="767987" cy="286541"/>
          </a:xfrm>
          <a:prstGeom prst="rect">
            <a:avLst/>
          </a:prstGeom>
        </p:spPr>
      </p:pic>
      <p:pic>
        <p:nvPicPr>
          <p:cNvPr id="7" name="Picture 6" descr="Icon&#10;&#10;AI-generated content may be incorrect.">
            <a:extLst>
              <a:ext uri="{FF2B5EF4-FFF2-40B4-BE49-F238E27FC236}">
                <a16:creationId xmlns:a16="http://schemas.microsoft.com/office/drawing/2014/main" id="{AF8194B0-1B0B-8957-6AF9-2EB6FEE56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4398" y="690880"/>
            <a:ext cx="3353973" cy="50684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72373" y="4138889"/>
            <a:ext cx="5460341" cy="538507"/>
          </a:xfrm>
        </p:spPr>
        <p:txBody>
          <a:bodyPr/>
          <a:lstStyle/>
          <a:p>
            <a:endParaRPr dirty="0"/>
          </a:p>
          <a:p>
            <a:r>
              <a:rPr dirty="0"/>
              <a:t>The IDE market has fundamentally shifted from passive code assistance to autonomous agentic systems</a:t>
            </a:r>
          </a:p>
          <a:p>
            <a:r>
              <a:rPr dirty="0"/>
              <a:t>2025 saw explosive growth: 120+ production-ready agentic AI tools across 11 categories</a:t>
            </a:r>
            <a:endParaRPr lang="en-US" dirty="0"/>
          </a:p>
          <a:p>
            <a:endParaRPr dirty="0"/>
          </a:p>
          <a:p>
            <a:r>
              <a:rPr dirty="0"/>
              <a:t>Market leaders: Cursor, Windsurf, AWS Kiro, Google Antigravity, and IBM Bob</a:t>
            </a:r>
          </a:p>
          <a:p>
            <a:r>
              <a:rPr dirty="0"/>
              <a:t>IBM Bob uniquely positioned as enterprise-grade SDLC orchestration platform</a:t>
            </a:r>
          </a:p>
          <a:p>
            <a:r>
              <a:rPr dirty="0"/>
              <a:t>Key differentiators: Multi-agent orchestration, MCP integration, cost optimization, and governance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Summary: The Agentic IDE Market Transformation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4773" y="3982357"/>
            <a:ext cx="4589484" cy="538507"/>
          </a:xfrm>
        </p:spPr>
        <p:txBody>
          <a:bodyPr/>
          <a:lstStyle/>
          <a:p>
            <a:endParaRPr dirty="0"/>
          </a:p>
          <a:p>
            <a:r>
              <a:rPr dirty="0"/>
              <a:t>Market Evolution: From autocomplete (2023) → Multi-file editing (2024) → Autonomous agents (2025-2026)</a:t>
            </a:r>
          </a:p>
          <a:p>
            <a:endParaRPr lang="en-US" dirty="0"/>
          </a:p>
          <a:p>
            <a:r>
              <a:rPr dirty="0"/>
              <a:t>Four Major Categories:</a:t>
            </a:r>
          </a:p>
          <a:p>
            <a:r>
              <a:rPr dirty="0"/>
              <a:t>  • Dedicated Agentic IDEs (Cursor, Windsurf, Kiro, Antigravity, Trae, </a:t>
            </a:r>
            <a:r>
              <a:rPr dirty="0" err="1"/>
              <a:t>PearAI</a:t>
            </a:r>
            <a:r>
              <a:rPr dirty="0"/>
              <a:t>, Zed)</a:t>
            </a:r>
          </a:p>
          <a:p>
            <a:r>
              <a:rPr dirty="0"/>
              <a:t>  • Native Ecosystem Agents (GitHub Copilot, JetBrains Junie)</a:t>
            </a:r>
          </a:p>
          <a:p>
            <a:r>
              <a:rPr dirty="0"/>
              <a:t>  • BYOK Extensions (Cline, Roo Code)</a:t>
            </a:r>
          </a:p>
          <a:p>
            <a:r>
              <a:rPr dirty="0"/>
              <a:t>  • Terminal-First Agents (Claude Code, Aider)</a:t>
            </a:r>
          </a:p>
          <a:p>
            <a:r>
              <a:rPr dirty="0"/>
              <a:t>Market Size: Agentic AI market experiencing rapid S-curve adoption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Agentic AI-Native IDE Market: 2026 Landscape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17944" y="4138889"/>
            <a:ext cx="6037284" cy="538507"/>
          </a:xfrm>
        </p:spPr>
        <p:txBody>
          <a:bodyPr/>
          <a:lstStyle/>
          <a:p>
            <a:endParaRPr dirty="0"/>
          </a:p>
          <a:p>
            <a:r>
              <a:rPr dirty="0"/>
              <a:t>1. Background Agents: Fire-and-forget task execution with overnight processing</a:t>
            </a:r>
          </a:p>
          <a:p>
            <a:r>
              <a:rPr dirty="0"/>
              <a:t>2. Persistent Memory: Context retention across sessions and projects</a:t>
            </a:r>
          </a:p>
          <a:p>
            <a:r>
              <a:rPr dirty="0"/>
              <a:t>3. Predictable Pricing: Transparent token usage and cost visibility</a:t>
            </a:r>
          </a:p>
          <a:p>
            <a:r>
              <a:rPr dirty="0"/>
              <a:t>4. MCP (Model Context Protocol): Standard integration with tools and data sources</a:t>
            </a:r>
          </a:p>
          <a:p>
            <a:r>
              <a:rPr dirty="0"/>
              <a:t>5. Multi-Agent Orchestration: Parallel agent execution for complex workflows</a:t>
            </a:r>
          </a:p>
          <a:p>
            <a:r>
              <a:rPr dirty="0"/>
              <a:t>6. Spec-Driven Development: Requirements-based structured approach</a:t>
            </a:r>
          </a:p>
          <a:p>
            <a:r>
              <a:rPr dirty="0"/>
              <a:t>7. Reliability: &gt;99% uptime with consistent performance under load</a:t>
            </a:r>
          </a:p>
          <a:p>
            <a:r>
              <a:rPr dirty="0"/>
              <a:t>8. Human-in-the-Loop Controls: Fine-grained permissions and approval gates</a:t>
            </a:r>
          </a:p>
          <a:p>
            <a:r>
              <a:rPr dirty="0"/>
              <a:t>9. Rollbacks &amp; Checkpoints: Instant rewind capabilities for agent actions</a:t>
            </a:r>
          </a:p>
          <a:p>
            <a:r>
              <a:rPr dirty="0"/>
              <a:t>10. Skills: Reusable, shareable workflow modules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Developer Requirements for Agentic 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81228" y="4963313"/>
            <a:ext cx="6233227" cy="538507"/>
          </a:xfrm>
        </p:spPr>
        <p:txBody>
          <a:bodyPr/>
          <a:lstStyle/>
          <a:p>
            <a:endParaRPr dirty="0"/>
          </a:p>
          <a:p>
            <a:r>
              <a:rPr dirty="0"/>
              <a:t>Cursor: VS Code fork, multi-repo reasoning, largest user base in category</a:t>
            </a:r>
            <a:endParaRPr lang="en-US" dirty="0"/>
          </a:p>
          <a:p>
            <a:endParaRPr dirty="0"/>
          </a:p>
          <a:p>
            <a:r>
              <a:rPr dirty="0"/>
              <a:t>Windsurf (Cognition): Cascade auto-context loading, enterprise-focused</a:t>
            </a:r>
            <a:endParaRPr lang="en-US" dirty="0"/>
          </a:p>
          <a:p>
            <a:endParaRPr dirty="0"/>
          </a:p>
          <a:p>
            <a:r>
              <a:rPr dirty="0"/>
              <a:t>AWS Kiro: Spec-driven development, dual mode (spec + vibe coding)</a:t>
            </a:r>
            <a:endParaRPr lang="en-US" dirty="0"/>
          </a:p>
          <a:p>
            <a:endParaRPr dirty="0"/>
          </a:p>
          <a:p>
            <a:r>
              <a:rPr dirty="0"/>
              <a:t>Google Antigravity: Multi-agent parallel workspaces, free tier</a:t>
            </a:r>
            <a:endParaRPr lang="en-US" dirty="0"/>
          </a:p>
          <a:p>
            <a:endParaRPr dirty="0"/>
          </a:p>
          <a:p>
            <a:r>
              <a:rPr dirty="0"/>
              <a:t>Trae (ByteDance): 100% free, auto-environment setup, direct Cursor competitor</a:t>
            </a:r>
            <a:endParaRPr lang="en-US" dirty="0"/>
          </a:p>
          <a:p>
            <a:endParaRPr dirty="0"/>
          </a:p>
          <a:p>
            <a:r>
              <a:rPr dirty="0" err="1"/>
              <a:t>PearAI</a:t>
            </a:r>
            <a:r>
              <a:rPr dirty="0"/>
              <a:t>: Open-source Cursor alternative with BYOK model</a:t>
            </a:r>
            <a:endParaRPr lang="en-US" dirty="0"/>
          </a:p>
          <a:p>
            <a:endParaRPr dirty="0"/>
          </a:p>
          <a:p>
            <a:r>
              <a:rPr dirty="0"/>
              <a:t>Zed: Rust-based, performance-focused, rapidly adding agentic features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Competitive Landscape: Dedicated Agentic IDEs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52414" y="4138889"/>
            <a:ext cx="4785427" cy="538507"/>
          </a:xfrm>
        </p:spPr>
        <p:txBody>
          <a:bodyPr/>
          <a:lstStyle/>
          <a:p>
            <a:endParaRPr dirty="0"/>
          </a:p>
          <a:p>
            <a:r>
              <a:rPr dirty="0"/>
              <a:t>Positioned as comprehensive SDLC partner, not just code assistant</a:t>
            </a:r>
          </a:p>
          <a:p>
            <a:r>
              <a:rPr dirty="0"/>
              <a:t>Unveiled at </a:t>
            </a:r>
            <a:r>
              <a:rPr dirty="0" err="1"/>
              <a:t>TechXchange</a:t>
            </a:r>
            <a:r>
              <a:rPr dirty="0"/>
              <a:t> 2025 as AI-first IDE orchestrating multiple LLMs</a:t>
            </a:r>
            <a:endParaRPr lang="en-US" dirty="0"/>
          </a:p>
          <a:p>
            <a:endParaRPr dirty="0"/>
          </a:p>
          <a:p>
            <a:r>
              <a:rPr dirty="0"/>
              <a:t>Key Differentiators:</a:t>
            </a:r>
          </a:p>
          <a:p>
            <a:r>
              <a:rPr dirty="0"/>
              <a:t>  • Full SDLC coverage: Planning → Development → Deployment</a:t>
            </a:r>
          </a:p>
          <a:p>
            <a:r>
              <a:rPr dirty="0"/>
              <a:t>  • Enterprise modernization: Java, COBOL, RPG, IBM </a:t>
            </a:r>
            <a:r>
              <a:rPr dirty="0" err="1"/>
              <a:t>i</a:t>
            </a:r>
            <a:r>
              <a:rPr dirty="0"/>
              <a:t>, HCL, Ansible</a:t>
            </a:r>
          </a:p>
          <a:p>
            <a:r>
              <a:rPr dirty="0"/>
              <a:t>  • Built-in governance: Security, policy enforcement, validation</a:t>
            </a:r>
          </a:p>
          <a:p>
            <a:r>
              <a:rPr dirty="0"/>
              <a:t>  • Cost optimization: Intelligent model routing, transparent controls</a:t>
            </a:r>
          </a:p>
          <a:p>
            <a:r>
              <a:rPr dirty="0"/>
              <a:t>  • Specialized modes: Code, Ask, Plan, Advanced, Orchestrator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IBM Bob: Enterprise-Grade AI SDLC Orchestration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24772" y="3895272"/>
            <a:ext cx="5928427" cy="538507"/>
          </a:xfrm>
        </p:spPr>
        <p:txBody>
          <a:bodyPr/>
          <a:lstStyle/>
          <a:p>
            <a:endParaRPr dirty="0"/>
          </a:p>
          <a:p>
            <a:r>
              <a:rPr dirty="0"/>
              <a:t>vs. Cursor/Windsurf: Enterprise governance + SDLC orchestration vs. pure coding focus</a:t>
            </a:r>
          </a:p>
          <a:p>
            <a:r>
              <a:rPr dirty="0"/>
              <a:t>vs. AWS Kiro: Broader language support + proven enterprise deployments</a:t>
            </a:r>
          </a:p>
          <a:p>
            <a:r>
              <a:rPr dirty="0"/>
              <a:t>vs. Google Antigravity: Production-ready with enterprise SLAs vs. experimental</a:t>
            </a:r>
          </a:p>
          <a:p>
            <a:r>
              <a:rPr dirty="0"/>
              <a:t>vs. GitHub Copilot: Multi-LLM orchestration + cost optimization vs. single-model</a:t>
            </a:r>
            <a:endParaRPr lang="en-US" dirty="0"/>
          </a:p>
          <a:p>
            <a:endParaRPr dirty="0"/>
          </a:p>
          <a:p>
            <a:r>
              <a:rPr dirty="0"/>
              <a:t>Unique Strengths:</a:t>
            </a:r>
          </a:p>
          <a:p>
            <a:r>
              <a:rPr dirty="0"/>
              <a:t>  • Only solution with comprehensive modernization capabilities</a:t>
            </a:r>
          </a:p>
          <a:p>
            <a:r>
              <a:rPr dirty="0"/>
              <a:t>  • Embedded security and compliance throughout SDLC</a:t>
            </a:r>
          </a:p>
          <a:p>
            <a:r>
              <a:rPr dirty="0"/>
              <a:t>  • Proven ROI: 100% architecture compliance, 18x faster enablement, zero defects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Competitive Positioning: IBM Bob's Advantages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68315" y="3851729"/>
            <a:ext cx="5928427" cy="538507"/>
          </a:xfrm>
        </p:spPr>
        <p:txBody>
          <a:bodyPr/>
          <a:lstStyle/>
          <a:p>
            <a:endParaRPr dirty="0"/>
          </a:p>
          <a:p>
            <a:r>
              <a:rPr dirty="0"/>
              <a:t>✓ Background Agents: Orchestrator mode enables multi-step autonomous execution</a:t>
            </a:r>
          </a:p>
          <a:p>
            <a:r>
              <a:rPr dirty="0"/>
              <a:t>✓ Persistent Memory: Context retention across sessions and projects</a:t>
            </a:r>
          </a:p>
          <a:p>
            <a:r>
              <a:rPr dirty="0"/>
              <a:t>✓ Predictable Pricing: </a:t>
            </a:r>
            <a:r>
              <a:rPr dirty="0" err="1"/>
              <a:t>Bobalytics</a:t>
            </a:r>
            <a:r>
              <a:rPr dirty="0"/>
              <a:t> provides transparent usage tracking and cost control</a:t>
            </a:r>
          </a:p>
          <a:p>
            <a:r>
              <a:rPr dirty="0"/>
              <a:t>✓ MCP Integration: Native Model Context Protocol support for tool extensibility</a:t>
            </a:r>
          </a:p>
          <a:p>
            <a:r>
              <a:rPr dirty="0"/>
              <a:t>✓ Multi-Agent Orchestration: Specialized modes coordinate complex workflows</a:t>
            </a:r>
          </a:p>
          <a:p>
            <a:r>
              <a:rPr dirty="0"/>
              <a:t>✓ Spec-Driven Development: Plan mode enables requirements-based approach</a:t>
            </a:r>
          </a:p>
          <a:p>
            <a:r>
              <a:rPr dirty="0"/>
              <a:t>✓ Reliability: Enterprise-grade infrastructure with proven uptime</a:t>
            </a:r>
          </a:p>
          <a:p>
            <a:r>
              <a:rPr dirty="0"/>
              <a:t>✓ Human-in-the-Loop: Configurable approval gates and policy enforcement</a:t>
            </a:r>
          </a:p>
          <a:p>
            <a:r>
              <a:rPr dirty="0"/>
              <a:t>✓ Rollbacks: Version control integration with checkpoint capabilities</a:t>
            </a:r>
          </a:p>
          <a:p>
            <a:r>
              <a:rPr dirty="0"/>
              <a:t>✓ Skills: Reusable workflow patterns through custom modes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Bob Addresses All 10 Critical Market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87963" y="4559300"/>
            <a:ext cx="4687455" cy="538507"/>
          </a:xfrm>
        </p:spPr>
        <p:txBody>
          <a:bodyPr/>
          <a:lstStyle/>
          <a:p>
            <a:endParaRPr dirty="0"/>
          </a:p>
          <a:p>
            <a:r>
              <a:rPr dirty="0"/>
              <a:t>Market Trend: Security becoming critical differentiator for enterprise adoption</a:t>
            </a:r>
          </a:p>
          <a:p>
            <a:r>
              <a:rPr dirty="0"/>
              <a:t>Augment Code: First to achieve ISO/IEC 42001 certification (2025)</a:t>
            </a:r>
          </a:p>
          <a:p>
            <a:r>
              <a:rPr dirty="0"/>
              <a:t>IBM Bob Approach:</a:t>
            </a:r>
          </a:p>
          <a:p>
            <a:r>
              <a:rPr dirty="0"/>
              <a:t>  • IDE-native security analysis and secrets detection</a:t>
            </a:r>
          </a:p>
          <a:p>
            <a:r>
              <a:rPr dirty="0"/>
              <a:t>  • Automated PR reviews with policy enforcement</a:t>
            </a:r>
          </a:p>
          <a:p>
            <a:r>
              <a:rPr dirty="0"/>
              <a:t>  • Continuous validation against enterprise standards</a:t>
            </a:r>
          </a:p>
          <a:p>
            <a:r>
              <a:rPr dirty="0"/>
              <a:t>  • Audit trails for all agent actions</a:t>
            </a:r>
          </a:p>
          <a:p>
            <a:r>
              <a:rPr dirty="0"/>
              <a:t>Competitive Gap: Most agentic IDEs lack embedded governance</a:t>
            </a:r>
          </a:p>
          <a:p>
            <a:r>
              <a:rPr dirty="0"/>
              <a:t>Enterprise Requirement: Security cannot be bolted on after development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Shift-Left Security: IBM Bob's Competitive Advantage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36912" y="3840843"/>
            <a:ext cx="4643913" cy="538507"/>
          </a:xfrm>
        </p:spPr>
        <p:txBody>
          <a:bodyPr/>
          <a:lstStyle/>
          <a:p>
            <a:endParaRPr dirty="0"/>
          </a:p>
          <a:p>
            <a:r>
              <a:rPr dirty="0"/>
              <a:t>MCP: Fastest-adopted standard in </a:t>
            </a:r>
            <a:r>
              <a:rPr dirty="0" err="1"/>
              <a:t>RedMonk</a:t>
            </a:r>
            <a:r>
              <a:rPr dirty="0"/>
              <a:t> history (2024-2025)</a:t>
            </a:r>
          </a:p>
          <a:p>
            <a:r>
              <a:rPr dirty="0"/>
              <a:t>Donated to Linux Foundation's Agentic AI Foundation</a:t>
            </a:r>
          </a:p>
          <a:p>
            <a:r>
              <a:rPr dirty="0"/>
              <a:t>Universal adoption: OpenAI, Google DeepMind, Microsoft, AWS</a:t>
            </a:r>
          </a:p>
          <a:p>
            <a:r>
              <a:rPr dirty="0"/>
              <a:t>IBM Bob MCP Capabilities:</a:t>
            </a:r>
          </a:p>
          <a:p>
            <a:r>
              <a:rPr dirty="0"/>
              <a:t>  • Native MCP server support for tool extensibility</a:t>
            </a:r>
          </a:p>
          <a:p>
            <a:r>
              <a:rPr dirty="0"/>
              <a:t>  • Seamless integration with Google Drive, Slack, GitHub, databases</a:t>
            </a:r>
          </a:p>
          <a:p>
            <a:r>
              <a:rPr dirty="0"/>
              <a:t>  • MCP registry for discovering and managing servers</a:t>
            </a:r>
          </a:p>
          <a:p>
            <a:r>
              <a:rPr dirty="0"/>
              <a:t>  • Robust authentication and authorization</a:t>
            </a:r>
          </a:p>
          <a:p>
            <a:r>
              <a:rPr dirty="0"/>
              <a:t>Market Position: IBM Bob among first enterprise IDEs with production MCP support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Context Protocol: IBM Bob's Strategic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71203" y="4147960"/>
            <a:ext cx="4883398" cy="538507"/>
          </a:xfrm>
        </p:spPr>
        <p:txBody>
          <a:bodyPr/>
          <a:lstStyle/>
          <a:p>
            <a:endParaRPr dirty="0"/>
          </a:p>
          <a:p>
            <a:r>
              <a:rPr dirty="0"/>
              <a:t>Primary Markets:</a:t>
            </a:r>
          </a:p>
          <a:p>
            <a:r>
              <a:rPr dirty="0"/>
              <a:t>  • Enterprise software teams with complex, multi-system environments</a:t>
            </a:r>
          </a:p>
          <a:p>
            <a:r>
              <a:rPr dirty="0"/>
              <a:t>  • Organizations with significant technical debt and legacy systems</a:t>
            </a:r>
          </a:p>
          <a:p>
            <a:r>
              <a:rPr dirty="0"/>
              <a:t>  • Regulated industries requiring governance and compliance</a:t>
            </a:r>
          </a:p>
          <a:p>
            <a:r>
              <a:rPr dirty="0"/>
              <a:t>  • IBM technology ecosystem customers</a:t>
            </a:r>
          </a:p>
          <a:p>
            <a:r>
              <a:rPr dirty="0"/>
              <a:t>Key Use Cases:</a:t>
            </a:r>
          </a:p>
          <a:p>
            <a:r>
              <a:rPr dirty="0"/>
              <a:t>  • Application modernization (COBOL, RPG, legacy Java)</a:t>
            </a:r>
          </a:p>
          <a:p>
            <a:r>
              <a:rPr dirty="0"/>
              <a:t>  • Cross-system feature development and integration</a:t>
            </a:r>
          </a:p>
          <a:p>
            <a:r>
              <a:rPr dirty="0"/>
              <a:t>  • Documentation generation for undocumented systems</a:t>
            </a:r>
          </a:p>
          <a:p>
            <a:r>
              <a:rPr dirty="0"/>
              <a:t>  • Test automation and quality assurance</a:t>
            </a:r>
          </a:p>
          <a:p>
            <a:r>
              <a:rPr dirty="0"/>
              <a:t>  • Security remediation and compliance enforcement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Bob Target Markets &amp; Primary Use Cases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74401" y="3810000"/>
            <a:ext cx="5449455" cy="538507"/>
          </a:xfrm>
        </p:spPr>
        <p:txBody>
          <a:bodyPr/>
          <a:lstStyle/>
          <a:p>
            <a:endParaRPr dirty="0"/>
          </a:p>
          <a:p>
            <a:r>
              <a:rPr dirty="0"/>
              <a:t>Total Addressable Market (TAM):</a:t>
            </a:r>
          </a:p>
          <a:p>
            <a:r>
              <a:rPr dirty="0"/>
              <a:t>  • Global developer population: 28.7M (2024) → 45M (2030)</a:t>
            </a:r>
          </a:p>
          <a:p>
            <a:r>
              <a:rPr dirty="0"/>
              <a:t>  • Enterprise developers: ~40% of total (11.5M current)</a:t>
            </a:r>
          </a:p>
          <a:p>
            <a:r>
              <a:rPr dirty="0"/>
              <a:t>  • Agentic IDE adoption rate: 15% (2025) → 60% (2028 projected)</a:t>
            </a:r>
          </a:p>
          <a:p>
            <a:r>
              <a:rPr dirty="0"/>
              <a:t>Market Segments:</a:t>
            </a:r>
          </a:p>
          <a:p>
            <a:r>
              <a:rPr dirty="0"/>
              <a:t>  • Individual developers: $20-40/month (Cursor, Windsurf pricing)</a:t>
            </a:r>
          </a:p>
          <a:p>
            <a:r>
              <a:rPr dirty="0"/>
              <a:t>  • Enterprise teams: $50-100/user/month + platform fees</a:t>
            </a:r>
          </a:p>
          <a:p>
            <a:r>
              <a:rPr dirty="0"/>
              <a:t>  • Legacy modernization: Project-based, $100K-$1M+ engagements</a:t>
            </a:r>
          </a:p>
          <a:p>
            <a:r>
              <a:rPr dirty="0"/>
              <a:t>IBM Bob Opportunity: Enterprise segment + modernization services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Opportunity: Agentic AI Development Tools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83258" y="3721100"/>
            <a:ext cx="5049877" cy="538507"/>
          </a:xfrm>
        </p:spPr>
        <p:txBody>
          <a:bodyPr/>
          <a:lstStyle/>
          <a:p>
            <a:endParaRPr dirty="0"/>
          </a:p>
          <a:p>
            <a:r>
              <a:rPr dirty="0"/>
              <a:t>Phase 1: IBM Ecosystem Penetration (Current)</a:t>
            </a:r>
          </a:p>
          <a:p>
            <a:r>
              <a:rPr dirty="0"/>
              <a:t>  • Target IBM technology customers (</a:t>
            </a:r>
            <a:r>
              <a:rPr dirty="0" err="1"/>
              <a:t>watsonx</a:t>
            </a:r>
            <a:r>
              <a:rPr dirty="0"/>
              <a:t>, Cloud, Z, </a:t>
            </a:r>
            <a:r>
              <a:rPr dirty="0" err="1"/>
              <a:t>i</a:t>
            </a:r>
            <a:r>
              <a:rPr dirty="0"/>
              <a:t>)</a:t>
            </a:r>
          </a:p>
          <a:p>
            <a:r>
              <a:rPr dirty="0"/>
              <a:t>  • Leverage existing relationships and trust</a:t>
            </a:r>
          </a:p>
          <a:p>
            <a:r>
              <a:rPr dirty="0"/>
              <a:t>  • Focus on modernization use cases</a:t>
            </a:r>
          </a:p>
          <a:p>
            <a:r>
              <a:rPr dirty="0"/>
              <a:t>Phase 2: Enterprise Expansion (2026 H2)</a:t>
            </a:r>
          </a:p>
          <a:p>
            <a:r>
              <a:rPr dirty="0"/>
              <a:t>  • Regulated industries: Financial services, healthcare, government</a:t>
            </a:r>
          </a:p>
          <a:p>
            <a:r>
              <a:rPr dirty="0"/>
              <a:t>  • Large enterprises with technical debt</a:t>
            </a:r>
          </a:p>
          <a:p>
            <a:r>
              <a:rPr dirty="0"/>
              <a:t>  • DevOps and platform engineering teams</a:t>
            </a:r>
          </a:p>
          <a:p>
            <a:r>
              <a:rPr dirty="0"/>
              <a:t>Phase 3: Market Leadership (2027+)</a:t>
            </a:r>
          </a:p>
          <a:p>
            <a:r>
              <a:rPr dirty="0"/>
              <a:t>  • Establish IBM Bob as enterprise agentic IDE standard</a:t>
            </a:r>
          </a:p>
          <a:p>
            <a:r>
              <a:rPr dirty="0"/>
              <a:t>  • Expand language and framework support</a:t>
            </a:r>
          </a:p>
          <a:p>
            <a:r>
              <a:rPr dirty="0"/>
              <a:t>  • Build partner ecosystem and marketplace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Bob Go-to-Market Strategy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Market is rapidly consolidating around 4 categories of agentic IDEs</a:t>
            </a:r>
          </a:p>
          <a:p>
            <a:r>
              <a:rPr dirty="0"/>
              <a:t>Enterprise adoption lags individual adoption due to governance concerns</a:t>
            </a:r>
          </a:p>
          <a:p>
            <a:r>
              <a:rPr dirty="0"/>
              <a:t>IBM Bob uniquely positioned at intersection of:</a:t>
            </a:r>
          </a:p>
          <a:p>
            <a:r>
              <a:rPr dirty="0"/>
              <a:t>  • Enterprise-grade governance and security</a:t>
            </a:r>
          </a:p>
          <a:p>
            <a:r>
              <a:rPr dirty="0"/>
              <a:t>  • Comprehensive SDLC orchestration</a:t>
            </a:r>
          </a:p>
          <a:p>
            <a:r>
              <a:rPr dirty="0"/>
              <a:t>  • Legacy modernization capabilities</a:t>
            </a:r>
          </a:p>
          <a:p>
            <a:r>
              <a:rPr dirty="0"/>
              <a:t>  • Cost optimization and transparency</a:t>
            </a:r>
          </a:p>
          <a:p>
            <a:r>
              <a:rPr dirty="0"/>
              <a:t>Competitive advantages are defensible through:</a:t>
            </a:r>
          </a:p>
          <a:p>
            <a:r>
              <a:rPr dirty="0"/>
              <a:t>  • IBM brand trust and enterprise relationships</a:t>
            </a:r>
          </a:p>
          <a:p>
            <a:r>
              <a:rPr dirty="0"/>
              <a:t>  • Deep integration with IBM technology stack</a:t>
            </a:r>
          </a:p>
          <a:p>
            <a:r>
              <a:rPr dirty="0"/>
              <a:t>  • Proven customer success and ROI</a:t>
            </a:r>
          </a:p>
          <a:p>
            <a:r>
              <a:rPr dirty="0"/>
              <a:t>  • Continuous innovation and ecosystem development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Intelligence: Key Takeaways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59458" y="3810000"/>
            <a:ext cx="5765141" cy="538507"/>
          </a:xfrm>
        </p:spPr>
        <p:txBody>
          <a:bodyPr/>
          <a:lstStyle/>
          <a:p>
            <a:endParaRPr dirty="0"/>
          </a:p>
          <a:p>
            <a:r>
              <a:rPr dirty="0"/>
              <a:t>1. Accelerate enterprise go-to-market with focus on regulated industries</a:t>
            </a:r>
          </a:p>
          <a:p>
            <a:r>
              <a:rPr dirty="0"/>
              <a:t>2. Invest in MCP ecosystem leadership and third-party integrations</a:t>
            </a:r>
          </a:p>
          <a:p>
            <a:r>
              <a:rPr dirty="0"/>
              <a:t>3. Expand language and framework support to compete with Cursor/Windsurf</a:t>
            </a:r>
          </a:p>
          <a:p>
            <a:r>
              <a:rPr dirty="0"/>
              <a:t>4. Develop comprehensive partner program for system integrators</a:t>
            </a:r>
          </a:p>
          <a:p>
            <a:r>
              <a:rPr dirty="0"/>
              <a:t>5. Build thought leadership through case studies and ROI documentation</a:t>
            </a:r>
          </a:p>
          <a:p>
            <a:r>
              <a:rPr dirty="0"/>
              <a:t>6. Enhance multi-agent orchestration capabilities for complex workflows</a:t>
            </a:r>
          </a:p>
          <a:p>
            <a:r>
              <a:rPr dirty="0"/>
              <a:t>7. Establish IBM Bob as the enterprise standard for agentic development</a:t>
            </a:r>
          </a:p>
          <a:p>
            <a:r>
              <a:rPr dirty="0"/>
              <a:t>8. Create certification program for IBM Bob specialists</a:t>
            </a:r>
          </a:p>
          <a:p>
            <a:r>
              <a:rPr dirty="0"/>
              <a:t>9. Develop vertical-specific solutions (financial services, healthcare, etc.)</a:t>
            </a:r>
          </a:p>
          <a:p>
            <a:r>
              <a:rPr dirty="0"/>
              <a:t>10. Maintain cost leadership through intelligent model routing innovation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 for IBM Bob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noFill/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 w="12700">
          <a:miter lim="400000"/>
        </a:ln>
        <a:extLst>
          <a:ext uri="{C572A759-6A51-4108-AA02-DFA0A04FC94B}">
            <ma14:wrappingTextBoxFlag xmlns:p="http://schemas.openxmlformats.org/presentationml/2006/main" xmlns:r="http://schemas.openxmlformats.org/officeDocument/2006/relationships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F04CA754-BE2C-4040-86D4-DB285EA1B18A}" vid="{1A6545FA-9223-B648-866A-185DFA4B43DC}"/>
    </a:ext>
  </a:extLst>
</a:theme>
</file>

<file path=ppt/theme/theme2.xml><?xml version="1.0" encoding="utf-8"?>
<a:theme xmlns:a="http://schemas.openxmlformats.org/drawingml/2006/main" name="1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="" xmlns:r="http://schemas.openxmlformats.org/officeDocument/2006/relationships" xmlns:m="http://schemas.openxmlformats.org/officeDocument/2006/math" xmlns:a14="http://schemas.microsoft.com/office/drawing/2010/main" xmlns:ma14="http://schemas.microsoft.com/office/mac/drawingml/2011/main" xmlns:p="http://schemas.openxmlformats.org/presentationml/2006/main" val="1"/>
          </a:ext>
        </a:extLst>
      </a:spPr>
      <a:bodyPr lIns="0" tIns="0" rIns="0" bIns="0"/>
      <a:lstStyle>
        <a:defPPr algn="l" defTabSz="1218956">
          <a:defRPr sz="2200" kern="0">
            <a:solidFill>
              <a:schemeClr val="tx2"/>
            </a:solidFill>
            <a:latin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31DF0289-1028-6943-A020-36845773A867}" vid="{420903E5-FF27-9C4D-AB14-78ABBED49DF3}"/>
    </a:ext>
  </a:extLst>
</a:theme>
</file>

<file path=ppt/theme/theme3.xml><?xml version="1.0" encoding="utf-8"?>
<a:theme xmlns:a="http://schemas.openxmlformats.org/drawingml/2006/main" name="2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31DF0289-1028-6943-A020-36845773A867}" vid="{420903E5-FF27-9C4D-AB14-78ABBED49DF3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5AD0A6CBCB4A4F9AD683011D8BF5E9" ma:contentTypeVersion="12" ma:contentTypeDescription="Create a new document." ma:contentTypeScope="" ma:versionID="f34db029e6915a6685de91204a73d82e">
  <xsd:schema xmlns:xsd="http://www.w3.org/2001/XMLSchema" xmlns:xs="http://www.w3.org/2001/XMLSchema" xmlns:p="http://schemas.microsoft.com/office/2006/metadata/properties" xmlns:ns2="caf912ba-2a93-4d64-b11d-456c10538f24" xmlns:ns3="73f92604-2f2c-4d76-89c7-04492751b286" targetNamespace="http://schemas.microsoft.com/office/2006/metadata/properties" ma:root="true" ma:fieldsID="4455175db55ef6ae95ea56bc938f447e" ns2:_="" ns3:_="">
    <xsd:import namespace="caf912ba-2a93-4d64-b11d-456c10538f24"/>
    <xsd:import namespace="73f92604-2f2c-4d76-89c7-04492751b2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f912ba-2a93-4d64-b11d-456c10538f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19edae7-b79a-4a5e-b725-af92424e05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f92604-2f2c-4d76-89c7-04492751b28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f850a0e-7480-469f-8284-cc925b119adc}" ma:internalName="TaxCatchAll" ma:showField="CatchAllData" ma:web="73f92604-2f2c-4d76-89c7-04492751b2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3f92604-2f2c-4d76-89c7-04492751b286" xsi:nil="true"/>
    <lcf76f155ced4ddcb4097134ff3c332f xmlns="caf912ba-2a93-4d64-b11d-456c10538f2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EC90403-D75F-4898-B62C-D22ABA1E4E25}">
  <ds:schemaRefs>
    <ds:schemaRef ds:uri="73f92604-2f2c-4d76-89c7-04492751b286"/>
    <ds:schemaRef ds:uri="caf912ba-2a93-4d64-b11d-456c10538f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E32A5EA-3F6B-4D9D-94BA-C2AFCF7E1D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6FE066-E598-4A9F-9C1C-11FA020AC841}">
  <ds:schemaRefs>
    <ds:schemaRef ds:uri="73f92604-2f2c-4d76-89c7-04492751b286"/>
    <ds:schemaRef ds:uri="caf912ba-2a93-4d64-b11d-456c10538f2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1369</Words>
  <Application>Microsoft Macintosh PowerPoint</Application>
  <PresentationFormat>Widescreen</PresentationFormat>
  <Paragraphs>169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Aptos</vt:lpstr>
      <vt:lpstr>Aptos Display</vt:lpstr>
      <vt:lpstr>Arial</vt:lpstr>
      <vt:lpstr>IBM Plex Sans</vt:lpstr>
      <vt:lpstr>IBM Plex Sans ExtLt</vt:lpstr>
      <vt:lpstr>IBM Plex Sans Light</vt:lpstr>
      <vt:lpstr>IBM presentation template</vt:lpstr>
      <vt:lpstr>1_IBM presentation template</vt:lpstr>
      <vt:lpstr>2_IBM presentation template</vt:lpstr>
      <vt:lpstr>1_Office Theme</vt:lpstr>
      <vt:lpstr>PowerPoint Presentation</vt:lpstr>
      <vt:lpstr>Executive Summary: The Agentic IDE Market Transformation</vt:lpstr>
      <vt:lpstr>The Agentic AI-Native IDE Market: 2026 Landscape</vt:lpstr>
      <vt:lpstr>Top 10 Developer Requirements for Agentic IDEs</vt:lpstr>
      <vt:lpstr>Competitive Landscape: Dedicated Agentic IDEs</vt:lpstr>
      <vt:lpstr>IBM Bob: Enterprise-Grade AI SDLC Orchestration</vt:lpstr>
      <vt:lpstr>Competitive Positioning: IBM Bob's Advantages</vt:lpstr>
      <vt:lpstr>IBM Bob Addresses All 10 Critical Market Requirements</vt:lpstr>
      <vt:lpstr>Shift-Left Security: IBM Bob's Competitive Advantage</vt:lpstr>
      <vt:lpstr>Model Context Protocol: IBM Bob's Strategic Integration</vt:lpstr>
      <vt:lpstr>IBM Bob Target Markets &amp; Primary Use Cases</vt:lpstr>
      <vt:lpstr>Market Opportunity: Agentic AI Development Tools</vt:lpstr>
      <vt:lpstr>IBM Bob Go-to-Market Strategy</vt:lpstr>
      <vt:lpstr>Competitive Intelligence: Key Takeaways</vt:lpstr>
      <vt:lpstr>Strategic Recommendations for IBM Bob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YOUNG</dc:creator>
  <cp:lastModifiedBy>Dita Rananta Natasha</cp:lastModifiedBy>
  <cp:revision>114</cp:revision>
  <dcterms:created xsi:type="dcterms:W3CDTF">2025-12-08T15:08:41Z</dcterms:created>
  <dcterms:modified xsi:type="dcterms:W3CDTF">2026-06-17T09:14:41Z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0x0101000A5AD0A6CBCB4A4F9AD683011D8BF5E9</vt:lpwstr>
  </property>
  <property fmtid="{D5CDD505-2E9C-101B-9397-08002B2CF9AE}" pid="3" name="MediaServiceImageTags">
    <vt:lpwstr/>
  </property>
</Properties>
</file>